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11c07b1d7b47dc" /><Relationship Type="http://schemas.openxmlformats.org/officeDocument/2006/relationships/extended-properties" Target="/docProps/app.xml" Id="R2e2fb4cab6284f63" /><Relationship Type="http://schemas.openxmlformats.org/officeDocument/2006/relationships/officeDocument" Target="/ppt/presentation.xml" Id="R723700414e6741f6" /></Relationships>
</file>

<file path=ppt/presentation.xml><?xml version="1.0" encoding="utf-8"?>
<p:presentation xmlns:p="http://schemas.openxmlformats.org/presentationml/2006/main">
  <p:sldMasterIdLst>
    <p:sldMasterId xmlns:r="http://schemas.openxmlformats.org/officeDocument/2006/relationships" id="2147483648" r:id="Rc62464e7772c4755"/>
  </p:sldMasterIdLst>
  <p:notesMasterIdLst>
    <p:notesMasterId xmlns:r="http://schemas.openxmlformats.org/officeDocument/2006/relationships" r:id="Rf8594a3eb123404d"/>
  </p:notesMasterIdLst>
  <p:sldIdLst>
    <p:sldId xmlns:r="http://schemas.openxmlformats.org/officeDocument/2006/relationships" id="256" r:id="Rfddad2a1850a427c"/>
    <p:sldId xmlns:r="http://schemas.openxmlformats.org/officeDocument/2006/relationships" id="257" r:id="R62bbaadbe25e4251"/>
    <p:sldId xmlns:r="http://schemas.openxmlformats.org/officeDocument/2006/relationships" id="258" r:id="R632049863264445f"/>
    <p:sldId xmlns:r="http://schemas.openxmlformats.org/officeDocument/2006/relationships" id="259" r:id="Rb5cfa82cf3cb4448"/>
    <p:sldId xmlns:r="http://schemas.openxmlformats.org/officeDocument/2006/relationships" id="260" r:id="Rbed1d6c966914d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26497222384921" /><Relationship Type="http://schemas.openxmlformats.org/officeDocument/2006/relationships/slideMaster" Target="/ppt/slideMasters/slideMaster1.xml" Id="Rc62464e7772c4755" /><Relationship Type="http://schemas.openxmlformats.org/officeDocument/2006/relationships/notesMaster" Target="/ppt/notesMasters/notesMaster1.xml" Id="Rf8594a3eb123404d" /><Relationship Type="http://schemas.openxmlformats.org/officeDocument/2006/relationships/presProps" Target="/ppt/presProps.xml" Id="R62c6db62070f4e03" /><Relationship Type="http://schemas.openxmlformats.org/officeDocument/2006/relationships/tableStyles" Target="/ppt/tableStyles.xml" Id="Rc8b36c5d25ea4d53" /><Relationship Type="http://schemas.openxmlformats.org/officeDocument/2006/relationships/slide" Target="/ppt/slides/slide1.xml" Id="Rfddad2a1850a427c" /><Relationship Type="http://schemas.openxmlformats.org/officeDocument/2006/relationships/slide" Target="/ppt/slides/slide2.xml" Id="R62bbaadbe25e4251" /><Relationship Type="http://schemas.openxmlformats.org/officeDocument/2006/relationships/slide" Target="/ppt/slides/slide3.xml" Id="R632049863264445f" /><Relationship Type="http://schemas.openxmlformats.org/officeDocument/2006/relationships/slide" Target="/ppt/slides/slide4.xml" Id="Rb5cfa82cf3cb4448" /><Relationship Type="http://schemas.openxmlformats.org/officeDocument/2006/relationships/slide" Target="/ppt/slides/slide5.xml" Id="Rbed1d6c966914d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bf8db0697747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39aba45d4d4d25" /><Relationship Type="http://schemas.openxmlformats.org/officeDocument/2006/relationships/notesMaster" Target="/ppt/notesMasters/notesMaster1.xml" Id="Rd659c27f971747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ca75ccab0241b3" /><Relationship Type="http://schemas.openxmlformats.org/officeDocument/2006/relationships/notesMaster" Target="/ppt/notesMasters/notesMaster1.xml" Id="R59bb86085a6146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b7dd2eaec84118" /><Relationship Type="http://schemas.openxmlformats.org/officeDocument/2006/relationships/notesMaster" Target="/ppt/notesMasters/notesMaster1.xml" Id="R196566582e1a4b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a27eb2176646c8" /><Relationship Type="http://schemas.openxmlformats.org/officeDocument/2006/relationships/notesMaster" Target="/ppt/notesMasters/notesMaster1.xml" Id="R6ae55319427040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a92945e380472e" /><Relationship Type="http://schemas.openxmlformats.org/officeDocument/2006/relationships/notesMaster" Target="/ppt/notesMasters/notesMaster1.xml" Id="Rdc76eaf7ecb049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During peak hour, one faulty train door can disrupt service far beyond a single carriage. For maintenance teams, the challenge is identifying which doors need attention while keeping inspection workloads manageable.</a:t>
            </a:r>
          </a:p>
          <a:p xmlns:a="http://schemas.openxmlformats.org/drawingml/2006/main">
            <a:r>
              <a:t/>
            </a:r>
          </a:p>
          <a:p xmlns:a="http://schemas.openxmlformats.org/drawingml/2006/main">
            <a:r>
              <a:t>For NEBULA X Track Three, we built a working fault-detection prototype using official LTA telemetry. It combines machine learning with an operator dashboard to flag abnormal door behavior and explain the decision.</a:t>
            </a:r>
          </a:p>
          <a:p xmlns:a="http://schemas.openxmlformats.org/drawingml/2006/main">
            <a:r>
              <a:t/>
            </a:r>
          </a:p>
          <a:p xmlns:a="http://schemas.openxmlformats.org/drawingml/2006/main">
            <a:r>
              <a:t>DESIGN / BANNER HANDOFF</a:t>
            </a:r>
          </a:p>
          <a:p xmlns:a="http://schemas.openxmlformats.org/drawingml/2006/main">
            <a:r>
              <a:t>Cover uses generated illustrative artwork, not an actual LTA train photograph. Reuse the cover treatment for a 2400 × 800 README banner: text left 58%, artwork right 42%, navy #081521, cyan #39C6DD, off-white #F4F7FA, Aptos bold. Keep text editable. Image prompt: premium editorial illustration of paired metro sliding doors and overhead motor, brushed metal, navy backdrop, restrained cyan highlights, empty left side, no logos or text.</a:t>
            </a:r>
          </a:p>
          <a:p xmlns:a="http://schemas.openxmlformats.org/drawingml/2006/main">
            <a:r>
              <a:t/>
            </a:r>
          </a:p>
          <a:p xmlns:a="http://schemas.openxmlformats.org/drawingml/2006/main">
            <a:r>
              <a:t>SOURCE: Project description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0:30–1:12</a:t>
            </a:r>
          </a:p>
          <a:p xmlns:a="http://schemas.openxmlformats.org/drawingml/2006/main">
            <a:r>
              <a:t>Our pipeline has two stages. First, K-Means establishes a healthy operating profile using five features: motor current, motor voltage, electrodynamic force, and door opening and closing times.</a:t>
            </a:r>
          </a:p>
          <a:p xmlns:a="http://schemas.openxmlformats.org/drawingml/2006/main">
            <a:r>
              <a:t/>
            </a:r>
          </a:p>
          <a:p xmlns:a="http://schemas.openxmlformats.org/drawingml/2006/main">
            <a:r>
              <a:t>It calculates a continuous Euclidean distance score that measures deviation from that profile.</a:t>
            </a:r>
          </a:p>
          <a:p xmlns:a="http://schemas.openxmlformats.org/drawingml/2006/main">
            <a:r>
              <a:t/>
            </a:r>
          </a:p>
          <a:p xmlns:a="http://schemas.openxmlformats.org/drawingml/2006/main">
            <a:r>
              <a:t>Second, a decision tree classifies door behavior through readable rules, with its depth capped at eight. SMOTE balances minority fault examples during training.</a:t>
            </a:r>
          </a:p>
          <a:p xmlns:a="http://schemas.openxmlformats.org/drawingml/2006/main">
            <a:r>
              <a:t/>
            </a:r>
          </a:p>
          <a:p xmlns:a="http://schemas.openxmlformats.org/drawingml/2006/main">
            <a:r>
              <a:t>This gives operators a classification they can inspect, together with the sensor conditions behind the decision.</a:t>
            </a:r>
          </a:p>
          <a:p xmlns:a="http://schemas.openxmlformats.org/drawingml/2006/main">
            <a:r>
              <a:t/>
            </a:r>
          </a:p>
          <a:p xmlns:a="http://schemas.openxmlformats.org/drawingml/2006/main">
            <a:r>
              <a:t>ARCHITECTURE HANDOFF</a:t>
            </a:r>
          </a:p>
          <a:p xmlns:a="http://schemas.openxmlformats.org/drawingml/2006/main">
            <a:r>
              <a:t>1. Preserve four aligned blocks: telemetry, K-Means, decision tree, output.</a:t>
            </a:r>
          </a:p>
          <a:p xmlns:a="http://schemas.openxmlformats.org/drawingml/2006/main">
            <a:r>
              <a:t>2. Solid arrows show inference. Dashed connector shows offline SMOTE training supplying a fitted tree.</a:t>
            </a:r>
          </a:p>
          <a:p xmlns:a="http://schemas.openxmlformats.org/drawingml/2006/main">
            <a:r>
              <a:t>3. SMOTE applies only to training data, never incoming telemetry or the holdout set.</a:t>
            </a:r>
          </a:p>
          <a:p xmlns:a="http://schemas.openxmlformats.org/drawingml/2006/main">
            <a:r>
              <a:t>4. This is a conceptual overview. Confirm whether the tree receives the anomaly score alone or the score plus sensor features; add a sensor bypass if required.</a:t>
            </a:r>
          </a:p>
          <a:p xmlns:a="http://schemas.openxmlformats.org/drawingml/2006/main">
            <a:r>
              <a:t>5. Confirm which centroid defines the anomaly distance and whether training-fitted scaling is implemented.</a:t>
            </a:r>
          </a:p>
          <a:p xmlns:a="http://schemas.openxmlformats.org/drawingml/2006/main">
            <a:r>
              <a:t>6. Keep ROI outside the prediction path.</a:t>
            </a:r>
          </a:p>
          <a:p xmlns:a="http://schemas.openxmlformats.org/drawingml/2006/main">
            <a:r>
              <a:t>SOURCE: Team-supplied model description; source code not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1:12–1:46</a:t>
            </a:r>
          </a:p>
          <a:p xmlns:a="http://schemas.openxmlformats.org/drawingml/2006/main">
            <a:r>
              <a:t>On the holdout test split, the model achieved eighty-four point nine percent fault recall, eighty-two point seven percent accuracy, and an F1-score of seventy-two point eight percent.</a:t>
            </a:r>
          </a:p>
          <a:p xmlns:a="http://schemas.openxmlformats.org/drawingml/2006/main">
            <a:r>
              <a:t/>
            </a:r>
          </a:p>
          <a:p xmlns:a="http://schemas.openxmlformats.org/drawingml/2006/main">
            <a:r>
              <a:t>That means it detected about eighty-five out of every hundred labeled faults in the test set. Recall is central because missed faults matter for maintenance decisions.</a:t>
            </a:r>
          </a:p>
          <a:p xmlns:a="http://schemas.openxmlformats.org/drawingml/2006/main">
            <a:r>
              <a:t/>
            </a:r>
          </a:p>
          <a:p xmlns:a="http://schemas.openxmlformats.org/drawingml/2006/main">
            <a:r>
              <a:t>These results support further evaluation. A field pilot must establish warning time before failure and measure the inspection burden from false alerts.</a:t>
            </a:r>
          </a:p>
          <a:p xmlns:a="http://schemas.openxmlformats.org/drawingml/2006/main">
            <a:r>
              <a:t/>
            </a:r>
          </a:p>
          <a:p xmlns:a="http://schemas.openxmlformats.org/drawingml/2006/main">
            <a:r>
              <a:t>SOURCE: Team-reported holdout metrics. Missed share = 100% minus 84.9% recall. No independent model evaluation was performed for this deck. F1 averaging convention, split procedure, and sample counts were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1:46–2:28</a:t>
            </a:r>
          </a:p>
          <a:p xmlns:a="http://schemas.openxmlformats.org/drawingml/2006/main">
            <a:r>
              <a:t>The working Streamlit dashboard brings the model into an operator workflow. This slide shows an illustrative layout of its features.</a:t>
            </a:r>
          </a:p>
          <a:p xmlns:a="http://schemas.openxmlformats.org/drawingml/2006/main">
            <a:r>
              <a:t/>
            </a:r>
          </a:p>
          <a:p xmlns:a="http://schemas.openxmlformats.org/drawingml/2006/main">
            <a:r>
              <a:t>The app simulates sensor telemetry and displays predictions. Operators can inspect the color-coded decision tree, where green indicates normal behavior and red indicates a critical classification.</a:t>
            </a:r>
          </a:p>
          <a:p xmlns:a="http://schemas.openxmlformats.org/drawingml/2006/main">
            <a:r>
              <a:t/>
            </a:r>
          </a:p>
          <a:p xmlns:a="http://schemas.openxmlformats.org/drawingml/2006/main">
            <a:r>
              <a:t>With one click, they can export door_predictions.csv for review.</a:t>
            </a:r>
          </a:p>
          <a:p xmlns:a="http://schemas.openxmlformats.org/drawingml/2006/main">
            <a:r>
              <a:t/>
            </a:r>
          </a:p>
          <a:p xmlns:a="http://schemas.openxmlformats.org/drawingml/2006/main">
            <a:r>
              <a:t>The financial calculator lets users explore savings under different assumptions. Actual savings will depend on confirmed interventions and incidents avoided.</a:t>
            </a:r>
          </a:p>
          <a:p xmlns:a="http://schemas.openxmlformats.org/drawingml/2006/main">
            <a:r>
              <a:t/>
            </a:r>
          </a:p>
          <a:p xmlns:a="http://schemas.openxmlformats.org/drawingml/2006/main">
            <a:r>
              <a:t>RECORDING DIRECTION</a:t>
            </a:r>
          </a:p>
          <a:p xmlns:a="http://schemas.openxmlformats.org/drawingml/2006/main">
            <a:r>
              <a:t>If using a real screen recording, replace the mockup with the actual app view and allow five seconds to demonstrate export. The mockup contains no learned thresholds or real sensor readings. The telemetry illustration is explicitly illustrative.</a:t>
            </a:r>
          </a:p>
          <a:p xmlns:a="http://schemas.openxmlformats.org/drawingml/2006/main">
            <a:r>
              <a:t>SOURCE: Feature list supplied by the team; app screenshots and code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2:28–3:00</a:t>
            </a:r>
          </a:p>
          <a:p xmlns:a="http://schemas.openxmlformats.org/drawingml/2006/main">
            <a:r>
              <a:t>Our next step is a shadow-mode pilot alongside existing maintenance. We would measure warning time, false alerts, and whether the recommendations help teams prioritize inspections.</a:t>
            </a:r>
          </a:p>
          <a:p xmlns:a="http://schemas.openxmlformats.org/drawingml/2006/main">
            <a:r>
              <a:t/>
            </a:r>
          </a:p>
          <a:p xmlns:a="http://schemas.openxmlformats.org/drawingml/2006/main">
            <a:r>
              <a:t>Using a twenty-two-thousand-five-hundred-dollar incident-cost assumption, avoiding one major incident represents that amount in gross benefit, before implementation and maintenance costs.</a:t>
            </a:r>
          </a:p>
          <a:p xmlns:a="http://schemas.openxmlformats.org/drawingml/2006/main">
            <a:r>
              <a:t/>
            </a:r>
          </a:p>
          <a:p xmlns:a="http://schemas.openxmlformats.org/drawingml/2006/main">
            <a:r>
              <a:t>We have a working prototype and holdout evidence. We are seeking the opportunity to validate its operational value with maintenance teams. Thank you.</a:t>
            </a:r>
          </a:p>
          <a:p xmlns:a="http://schemas.openxmlformats.org/drawingml/2006/main">
            <a:r>
              <a:t/>
            </a:r>
          </a:p>
          <a:p xmlns:a="http://schemas.openxmlformats.org/drawingml/2006/main">
            <a:r>
              <a:t>SOURCE / FINANCIAL BASIS</a:t>
            </a:r>
          </a:p>
          <a:p xmlns:a="http://schemas.openxmlformats.org/drawingml/2006/main">
            <a:r>
              <a:t>$22,500 is an illustrative team-provided incident-cost assumption. Currency and cost basis require confirmation. This is not a verified statutory penalty or measured saving. Net savings should subtract deployment, inspection, and maintenance costs. Pilot stages are proposed, not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f1820891b847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ec5387d2b44477" /><Relationship Type="http://schemas.openxmlformats.org/officeDocument/2006/relationships/slideLayout" Target="/ppt/slideLayouts/slideLayout1.xml" Id="R1035ec22283346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35ec22283346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1047c23c614120" /><Relationship Type="http://schemas.openxmlformats.org/officeDocument/2006/relationships/image" Target="/ppt/media/image.png" Id="R7b305a3c68ea478d" /><Relationship Type="http://schemas.openxmlformats.org/officeDocument/2006/relationships/notesSlide" Target="/ppt/notesSlides/notesSlide1.xml" Id="Rd0703ce21cfd4e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293a35af3343fe" /><Relationship Type="http://schemas.openxmlformats.org/officeDocument/2006/relationships/notesSlide" Target="/ppt/notesSlides/notesSlide2.xml" Id="R2a9b4994e0a849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40c0711c6644b3" /><Relationship Type="http://schemas.openxmlformats.org/officeDocument/2006/relationships/chart" Target="/ppt/slides/charts/chart1.xml" Id="R4d2d4c8fc9d44f21" /><Relationship Type="http://schemas.openxmlformats.org/officeDocument/2006/relationships/notesSlide" Target="/ppt/notesSlides/notesSlide3.xml" Id="Raaccf17a4afb47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0e3db03a5a4829" /><Relationship Type="http://schemas.openxmlformats.org/officeDocument/2006/relationships/chart" Target="/ppt/slides/charts/chart2.xml" Id="R43fff82593494bae" /><Relationship Type="http://schemas.openxmlformats.org/officeDocument/2006/relationships/notesSlide" Target="/ppt/notesSlides/notesSlide4.xml" Id="R654ff5ea8c3e48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39ec68ef76431a" /><Relationship Type="http://schemas.openxmlformats.org/officeDocument/2006/relationships/notesSlide" Target="/ppt/notesSlides/notesSlide5.xml" Id="Rb57e266bde894f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Detected</c:v>
          </c:tx>
          <c:spPr>
            <a:solidFill xmlns:a="http://schemas.openxmlformats.org/drawingml/2006/main">
              <a:srgbClr val="39C6DD"/>
            </a:solidFill>
          </c:spPr>
          <c:cat>
            <c:strRef>
              <c:f>'Chart Data'!$A$2:$A$2</c:f>
              <c:strCache>
                <c:ptCount val="1"/>
                <c:pt idx="0">
                  <c:v>Labeled faults</c:v>
                </c:pt>
              </c:strCache>
            </c:strRef>
          </c:cat>
          <c:val>
            <c:numRef>
              <c:f>'Chart Data'!$B$2:$B$2</c:f>
              <c:numCache>
                <c:formatCode>General</c:formatCode>
                <c:ptCount val="1"/>
                <c:pt idx="0">
                  <c:v>84.9</c:v>
                </c:pt>
              </c:numCache>
            </c:numRef>
          </c:val>
        </c:ser>
        <c:ser>
          <c:idx val="1"/>
          <c:order val="1"/>
          <c:tx>
            <c:v>Missed</c:v>
          </c:tx>
          <c:spPr>
            <a:solidFill xmlns:a="http://schemas.openxmlformats.org/drawingml/2006/main">
              <a:srgbClr val="405363"/>
            </a:solidFill>
          </c:spPr>
          <c:cat>
            <c:strRef>
              <c:f>'Chart Data'!$C$2:$C$2</c:f>
              <c:strCache>
                <c:ptCount val="1"/>
                <c:pt idx="0">
                  <c:v>Labeled faults</c:v>
                </c:pt>
              </c:strCache>
            </c:strRef>
          </c:cat>
          <c:val>
            <c:numRef>
              <c:f>'Chart Data'!$D$2:$D$2</c:f>
              <c:numCache>
                <c:formatCode>General</c:formatCode>
                <c:ptCount val="1"/>
                <c:pt idx="0">
                  <c:v>15.1</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spPr>
        <a:solidFill xmlns:a="http://schemas.openxmlformats.org/drawingml/2006/main">
          <a:srgbClr val="081521"/>
        </a:solidFill>
        <a:ln xmlns:a="http://schemas.openxmlformats.org/drawingml/2006/main" w="0">
          <a:noFill/>
        </a:ln>
      </c:spPr>
    </c:plotArea>
    <c:plotVisOnly val="1"/>
  </c:chart>
  <c:spPr>
    <a:solidFill xmlns:a="http://schemas.openxmlformats.org/drawingml/2006/main">
      <a:srgbClr val="081521"/>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Illustrative sensor signal</c:v>
          </c:tx>
          <c:spPr>
            <a:ln xmlns:a="http://schemas.openxmlformats.org/drawingml/2006/main" w="23813">
              <a:solidFill>
                <a:srgbClr val="39C6DD"/>
              </a:solidFill>
            </a:ln>
          </c:spPr>
          <c:marker>
            <c:symbol val="none"/>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General</c:formatCode>
                <c:ptCount val="8"/>
                <c:pt idx="0">
                  <c:v>3</c:v>
                </c:pt>
                <c:pt idx="1">
                  <c:v>4</c:v>
                </c:pt>
                <c:pt idx="2">
                  <c:v>3</c:v>
                </c:pt>
                <c:pt idx="3">
                  <c:v>4</c:v>
                </c:pt>
                <c:pt idx="4">
                  <c:v>5</c:v>
                </c:pt>
                <c:pt idx="5">
                  <c:v>7</c:v>
                </c:pt>
                <c:pt idx="6">
                  <c:v>5</c:v>
                </c:pt>
                <c:pt idx="7">
                  <c:v>4</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spPr>
        <a:solidFill xmlns:a="http://schemas.openxmlformats.org/drawingml/2006/main">
          <a:srgbClr val="10212E"/>
        </a:solidFill>
        <a:ln xmlns:a="http://schemas.openxmlformats.org/drawingml/2006/main" w="0">
          <a:noFill/>
        </a:ln>
      </c:spPr>
    </c:plotArea>
    <c:plotVisOnly val="1"/>
  </c:chart>
  <c:spPr>
    <a:solidFill xmlns:a="http://schemas.openxmlformats.org/drawingml/2006/main">
      <a:srgbClr val="10212E"/>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b305a3c68ea47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85A28C-D34D-4534-86BF-985FE3944160}"/>
              </a:ext>
            </a:extLst>
          </p:cNvPr>
          <p:cNvSpPr>
            <a:spLocks xmlns:a="http://schemas.openxmlformats.org/drawingml/2006/main" noGrp="1"/>
          </p:cNvSpPr>
          <p:nvPr/>
        </p:nvSpPr>
        <p:spPr>
          <a:xfrm xmlns:a="http://schemas.openxmlformats.org/drawingml/2006/main">
            <a:off x="609600" y="50482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39C6DD"/>
                </a:solidFill>
                <a:latin typeface="Aptos"/>
                <a:ea typeface="Aptos"/>
                <a:cs typeface="Aptos"/>
              </a:defRPr>
            </a:pPr>
            <a:r>
              <a:rPr sz="1500" b="1">
                <a:solidFill>
                  <a:srgbClr val="39C6DD"/>
                </a:solidFill>
                <a:latin typeface="Aptos"/>
                <a:ea typeface="Aptos"/>
                <a:cs typeface="Aptos"/>
              </a:rPr>
              <a:t>The Out-liars  /  NEBULA X  /  TRACK 3</a:t>
            </a:r>
          </a:p>
        </p:txBody>
      </p:sp>
      <p:sp>
        <p:nvSpPr>
          <p:cNvPr id="3" name="">
            <a:extLst xmlns:a="http://schemas.openxmlformats.org/drawingml/2006/main">
              <a:ext uri="{FF2B5EF4-FFF2-40B4-BE49-F238E27FC236}">
                <a16:creationId xmlns:a16="http://schemas.microsoft.com/office/drawing/2014/main" id="{53A046D1-1065-4AB6-9B30-A6C41F512825}"/>
              </a:ext>
            </a:extLst>
          </p:cNvPr>
          <p:cNvSpPr>
            <a:spLocks xmlns:a="http://schemas.openxmlformats.org/drawingml/2006/main" noGrp="1"/>
          </p:cNvSpPr>
          <p:nvPr/>
        </p:nvSpPr>
        <p:spPr>
          <a:xfrm xmlns:a="http://schemas.openxmlformats.org/drawingml/2006/main">
            <a:off x="609600" y="130492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950" b="1">
                <a:solidFill>
                  <a:srgbClr val="F4F7FA"/>
                </a:solidFill>
                <a:latin typeface="Aptos"/>
                <a:ea typeface="Aptos"/>
                <a:cs typeface="Aptos"/>
              </a:defRPr>
            </a:pPr>
            <a:r>
              <a:rPr sz="4950" b="1">
                <a:solidFill>
                  <a:srgbClr val="F4F7FA"/>
                </a:solidFill>
                <a:latin typeface="Aptos"/>
                <a:ea typeface="Aptos"/>
                <a:cs typeface="Aptos"/>
              </a:rPr>
              <a:t>Train Door</a:t>
            </a:r>
          </a:p>
          <a:p xmlns:a="http://schemas.openxmlformats.org/drawingml/2006/main">
            <a:pPr algn="l">
              <a:defRPr sz="4950" b="1">
                <a:solidFill>
                  <a:srgbClr val="F4F7FA"/>
                </a:solidFill>
                <a:latin typeface="Aptos"/>
                <a:ea typeface="Aptos"/>
                <a:cs typeface="Aptos"/>
              </a:defRPr>
            </a:pPr>
            <a:r>
              <a:rPr sz="4950" b="1">
                <a:solidFill>
                  <a:srgbClr val="F4F7FA"/>
                </a:solidFill>
                <a:latin typeface="Aptos"/>
                <a:ea typeface="Aptos"/>
                <a:cs typeface="Aptos"/>
              </a:rPr>
              <a:t>Fault Detection</a:t>
            </a:r>
          </a:p>
        </p:txBody>
      </p:sp>
      <p:sp>
        <p:nvSpPr>
          <p:cNvPr id="4" name="">
            <a:extLst xmlns:a="http://schemas.openxmlformats.org/drawingml/2006/main">
              <a:ext uri="{FF2B5EF4-FFF2-40B4-BE49-F238E27FC236}">
                <a16:creationId xmlns:a16="http://schemas.microsoft.com/office/drawing/2014/main" id="{57D7A2BC-09E6-47A6-9756-79894FC80FD2}"/>
              </a:ext>
            </a:extLst>
          </p:cNvPr>
          <p:cNvSpPr>
            <a:spLocks xmlns:a="http://schemas.openxmlformats.org/drawingml/2006/main" noGrp="1"/>
          </p:cNvSpPr>
          <p:nvPr/>
        </p:nvSpPr>
        <p:spPr>
          <a:xfrm xmlns:a="http://schemas.openxmlformats.org/drawingml/2006/main">
            <a:off x="609600" y="3276600"/>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B8C6D5"/>
                </a:solidFill>
                <a:latin typeface="Aptos"/>
                <a:ea typeface="Aptos"/>
                <a:cs typeface="Aptos"/>
              </a:defRPr>
            </a:pPr>
            <a:r>
              <a:rPr sz="2400" b="0">
                <a:solidFill>
                  <a:srgbClr val="B8C6D5"/>
                </a:solidFill>
                <a:latin typeface="Aptos"/>
                <a:ea typeface="Aptos"/>
                <a:cs typeface="Aptos"/>
              </a:rPr>
              <a:t>Explainable AI for</a:t>
            </a:r>
          </a:p>
          <a:p xmlns:a="http://schemas.openxmlformats.org/drawingml/2006/main">
            <a:pPr algn="l">
              <a:defRPr sz="2400" b="0">
                <a:solidFill>
                  <a:srgbClr val="B8C6D5"/>
                </a:solidFill>
                <a:latin typeface="Aptos"/>
                <a:ea typeface="Aptos"/>
                <a:cs typeface="Aptos"/>
              </a:defRPr>
            </a:pPr>
            <a:r>
              <a:rPr sz="2400" b="0">
                <a:solidFill>
                  <a:srgbClr val="B8C6D5"/>
                </a:solidFill>
                <a:latin typeface="Aptos"/>
                <a:ea typeface="Aptos"/>
                <a:cs typeface="Aptos"/>
              </a:rPr>
              <a:t>maintenance prioritization</a:t>
            </a:r>
          </a:p>
        </p:txBody>
      </p:sp>
      <p:sp>
        <p:nvSpPr>
          <p:cNvPr id="5" name="">
            <a:extLst xmlns:a="http://schemas.openxmlformats.org/drawingml/2006/main">
              <a:ext uri="{FF2B5EF4-FFF2-40B4-BE49-F238E27FC236}">
                <a16:creationId xmlns:a16="http://schemas.microsoft.com/office/drawing/2014/main" id="{75B1C49A-7036-4A35-9220-5ACF08BAA69B}"/>
              </a:ext>
            </a:extLst>
          </p:cNvPr>
          <p:cNvSpPr>
            <a:spLocks xmlns:a="http://schemas.openxmlformats.org/drawingml/2006/main" noGrp="1"/>
          </p:cNvSpPr>
          <p:nvPr/>
        </p:nvSpPr>
        <p:spPr>
          <a:xfrm xmlns:a="http://schemas.openxmlformats.org/drawingml/2006/main">
            <a:off x="609600" y="4781550"/>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1">
                <a:solidFill>
                  <a:srgbClr val="F4F7FA"/>
                </a:solidFill>
                <a:latin typeface="Aptos"/>
                <a:ea typeface="Aptos"/>
                <a:cs typeface="Aptos"/>
              </a:defRPr>
            </a:pPr>
            <a:r>
              <a:rPr sz="2400" b="1">
                <a:solidFill>
                  <a:srgbClr val="F4F7FA"/>
                </a:solidFill>
                <a:latin typeface="Aptos"/>
                <a:ea typeface="Aptos"/>
                <a:cs typeface="Aptos"/>
              </a:rPr>
              <a:t>One faulty door can disrupt</a:t>
            </a:r>
          </a:p>
          <a:p xmlns:a="http://schemas.openxmlformats.org/drawingml/2006/main">
            <a:pPr algn="l">
              <a:defRPr sz="2400" b="1">
                <a:solidFill>
                  <a:srgbClr val="F4F7FA"/>
                </a:solidFill>
                <a:latin typeface="Aptos"/>
                <a:ea typeface="Aptos"/>
                <a:cs typeface="Aptos"/>
              </a:defRPr>
            </a:pPr>
            <a:r>
              <a:rPr sz="2400" b="1">
                <a:solidFill>
                  <a:srgbClr val="F4F7FA"/>
                </a:solidFill>
                <a:latin typeface="Aptos"/>
                <a:ea typeface="Aptos"/>
                <a:cs typeface="Aptos"/>
              </a:rPr>
              <a:t>a peak-hour service</a:t>
            </a:r>
          </a:p>
        </p:txBody>
      </p:sp>
      <p:sp>
        <p:nvSpPr>
          <p:cNvPr id="6" name="">
            <a:extLst xmlns:a="http://schemas.openxmlformats.org/drawingml/2006/main">
              <a:ext uri="{FF2B5EF4-FFF2-40B4-BE49-F238E27FC236}">
                <a16:creationId xmlns:a16="http://schemas.microsoft.com/office/drawing/2014/main" id="{BD56A76D-3340-48DA-A1DA-A49E083A903C}"/>
              </a:ext>
            </a:extLst>
          </p:cNvPr>
          <p:cNvSpPr>
            <a:spLocks xmlns:a="http://schemas.openxmlformats.org/drawingml/2006/main" noGrp="1"/>
          </p:cNvSpPr>
          <p:nvPr/>
        </p:nvSpPr>
        <p:spPr>
          <a:xfrm xmlns:a="http://schemas.openxmlformats.org/drawingml/2006/main">
            <a:off x="609600" y="59055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B8C6D5"/>
                </a:solidFill>
                <a:latin typeface="Aptos"/>
                <a:ea typeface="Aptos"/>
                <a:cs typeface="Aptos"/>
              </a:defRPr>
            </a:pPr>
            <a:r>
              <a:rPr sz="1425" b="0">
                <a:solidFill>
                  <a:srgbClr val="B8C6D5"/>
                </a:solidFill>
                <a:latin typeface="Aptos"/>
                <a:ea typeface="Aptos"/>
                <a:cs typeface="Aptos"/>
              </a:rPr>
              <a:t>Service delays   /   Safety risks   /   Unplanned maintenance</a:t>
            </a:r>
          </a:p>
        </p:txBody>
      </p:sp>
      <p:sp>
        <p:nvSpPr>
          <p:cNvPr id="7" name="">
            <a:extLst xmlns:a="http://schemas.openxmlformats.org/drawingml/2006/main">
              <a:ext uri="{FF2B5EF4-FFF2-40B4-BE49-F238E27FC236}">
                <a16:creationId xmlns:a16="http://schemas.microsoft.com/office/drawing/2014/main" id="{32A8D6E7-2429-4E14-BF06-A01EDEA77A02}"/>
              </a:ext>
            </a:extLst>
          </p:cNvPr>
          <p:cNvSpPr>
            <a:spLocks xmlns:a="http://schemas.openxmlformats.org/drawingml/2006/main" noGrp="1"/>
          </p:cNvSpPr>
          <p:nvPr/>
        </p:nvSpPr>
        <p:spPr>
          <a:xfrm xmlns:a="http://schemas.openxmlformats.org/drawingml/2006/main">
            <a:off x="11144250" y="6438900"/>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B8C6D5"/>
                </a:solidFill>
                <a:latin typeface="Aptos"/>
                <a:ea typeface="Aptos"/>
                <a:cs typeface="Aptos"/>
              </a:defRPr>
            </a:pPr>
            <a:r>
              <a:rPr sz="1350" b="0">
                <a:solidFill>
                  <a:srgbClr val="B8C6D5"/>
                </a:solidFill>
                <a:latin typeface="Aptos"/>
                <a:ea typeface="Aptos"/>
                <a:cs typeface="Aptos"/>
              </a:rPr>
              <a:t>01</a:t>
            </a:r>
          </a:p>
        </p:txBody>
      </p:sp>
    </p:spTree>
    <p:extLst>
      <p:ext uri="{BB962C8B-B14F-4D97-AF65-F5344CB8AC3E}">
        <p14:creationId xmlns:p14="http://schemas.microsoft.com/office/powerpoint/2010/main" val="1218204874"/>
      </p:ext>
    </p:extLst>
  </p:cSld>
</p:sld>
</file>

<file path=ppt/slides/slide2.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96928FB-A65F-4E25-9FC7-16A1C7E4B154}"/>
              </a:ext>
            </a:extLst>
          </p:cNvPr>
          <p:cNvSpPr>
            <a:spLocks xmlns:a="http://schemas.openxmlformats.org/drawingml/2006/main" noGrp="1"/>
          </p:cNvSpPr>
          <p:nvPr/>
        </p:nvSpPr>
        <p:spPr>
          <a:xfrm xmlns:a="http://schemas.openxmlformats.org/drawingml/2006/main">
            <a:off x="609600" y="3619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EXPLAINABLE ARCHITECTURE</a:t>
            </a:r>
          </a:p>
        </p:txBody>
      </p:sp>
      <p:sp>
        <p:nvSpPr>
          <p:cNvPr id="2" name="">
            <a:extLst xmlns:a="http://schemas.openxmlformats.org/drawingml/2006/main">
              <a:ext uri="{FF2B5EF4-FFF2-40B4-BE49-F238E27FC236}">
                <a16:creationId xmlns:a16="http://schemas.microsoft.com/office/drawing/2014/main" id="{7222FC5B-8644-42A6-B51E-3918E02606E2}"/>
              </a:ext>
            </a:extLst>
          </p:cNvPr>
          <p:cNvSpPr>
            <a:spLocks xmlns:a="http://schemas.openxmlformats.org/drawingml/2006/main" noGrp="1"/>
          </p:cNvSpPr>
          <p:nvPr/>
        </p:nvSpPr>
        <p:spPr>
          <a:xfrm xmlns:a="http://schemas.openxmlformats.org/drawingml/2006/main">
            <a:off x="609600" y="809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4F7FA"/>
                </a:solidFill>
                <a:latin typeface="Aptos"/>
                <a:ea typeface="Aptos"/>
                <a:cs typeface="Aptos"/>
              </a:defRPr>
            </a:pPr>
            <a:r>
              <a:rPr sz="3300" b="1">
                <a:solidFill>
                  <a:srgbClr val="F4F7FA"/>
                </a:solidFill>
                <a:latin typeface="Aptos"/>
                <a:ea typeface="Aptos"/>
                <a:cs typeface="Aptos"/>
              </a:rPr>
              <a:t>Two-stage detection pipeline</a:t>
            </a:r>
          </a:p>
        </p:txBody>
      </p:sp>
      <p:sp>
        <p:nvSpPr>
          <p:cNvPr id="3" name="">
            <a:extLst xmlns:a="http://schemas.openxmlformats.org/drawingml/2006/main">
              <a:ext uri="{FF2B5EF4-FFF2-40B4-BE49-F238E27FC236}">
                <a16:creationId xmlns:a16="http://schemas.microsoft.com/office/drawing/2014/main" id="{4FDF50C0-E3B0-4A35-A19D-86C7F8626369}"/>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29425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C0F7A2-4969-4FAC-B621-F529C1B46103}"/>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B8C6D5"/>
                </a:solidFill>
                <a:latin typeface="Aptos"/>
                <a:ea typeface="Aptos"/>
                <a:cs typeface="Aptos"/>
              </a:defRPr>
            </a:pPr>
            <a:r>
              <a:rPr sz="1050" b="0">
                <a:solidFill>
                  <a:srgbClr val="B8C6D5"/>
                </a:solidFill>
                <a:latin typeface="Aptos"/>
                <a:ea typeface="Aptos"/>
                <a:cs typeface="Aptos"/>
              </a:rPr>
              <a:t>The Out-liars  /  NEBULA X  /  TRACK 3</a:t>
            </a:r>
          </a:p>
        </p:txBody>
      </p:sp>
      <p:sp>
        <p:nvSpPr>
          <p:cNvPr id="5" name="">
            <a:extLst xmlns:a="http://schemas.openxmlformats.org/drawingml/2006/main">
              <a:ext uri="{FF2B5EF4-FFF2-40B4-BE49-F238E27FC236}">
                <a16:creationId xmlns:a16="http://schemas.microsoft.com/office/drawing/2014/main" id="{3D38435B-36DF-4B8F-B15E-789FC422D167}"/>
              </a:ext>
            </a:extLst>
          </p:cNvPr>
          <p:cNvSpPr>
            <a:spLocks xmlns:a="http://schemas.openxmlformats.org/drawingml/2006/main" noGrp="1"/>
          </p:cNvSpPr>
          <p:nvPr/>
        </p:nvSpPr>
        <p:spPr>
          <a:xfrm xmlns:a="http://schemas.openxmlformats.org/drawingml/2006/main">
            <a:off x="11049000" y="6438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B8C6D5"/>
                </a:solidFill>
                <a:latin typeface="Aptos"/>
                <a:ea typeface="Aptos"/>
                <a:cs typeface="Aptos"/>
              </a:defRPr>
            </a:pPr>
            <a:r>
              <a:rPr sz="1350" b="0">
                <a:solidFill>
                  <a:srgbClr val="B8C6D5"/>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A5A76C8C-5A02-49E1-999B-D81A3B843C0B}"/>
              </a:ext>
            </a:extLst>
          </p:cNvPr>
          <p:cNvSpPr>
            <a:spLocks xmlns:a="http://schemas.openxmlformats.org/drawingml/2006/main" noGrp="1"/>
          </p:cNvSpPr>
          <p:nvPr/>
        </p:nvSpPr>
        <p:spPr>
          <a:xfrm xmlns:a="http://schemas.openxmlformats.org/drawingml/2006/main">
            <a:off x="609600" y="1495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B8C6D5"/>
                </a:solidFill>
                <a:latin typeface="Aptos"/>
                <a:ea typeface="Aptos"/>
                <a:cs typeface="Aptos"/>
              </a:defRPr>
            </a:pPr>
            <a:r>
              <a:rPr sz="2025" b="0">
                <a:solidFill>
                  <a:srgbClr val="B8C6D5"/>
                </a:solidFill>
                <a:latin typeface="Aptos"/>
                <a:ea typeface="Aptos"/>
                <a:cs typeface="Aptos"/>
              </a:rPr>
              <a:t>A healthy baseline, followed by an auditable classification</a:t>
            </a:r>
          </a:p>
        </p:txBody>
      </p:sp>
      <p:sp>
        <p:nvSpPr>
          <p:cNvPr id="7" name="">
            <a:extLst xmlns:a="http://schemas.openxmlformats.org/drawingml/2006/main">
              <a:ext uri="{FF2B5EF4-FFF2-40B4-BE49-F238E27FC236}">
                <a16:creationId xmlns:a16="http://schemas.microsoft.com/office/drawing/2014/main" id="{EFFAC62A-2A48-4F67-991E-8326FBB63BD8}"/>
              </a:ext>
            </a:extLst>
          </p:cNvPr>
          <p:cNvSpPr>
            <a:spLocks xmlns:a="http://schemas.openxmlformats.org/drawingml/2006/main" noGrp="1"/>
          </p:cNvSpPr>
          <p:nvPr/>
        </p:nvSpPr>
        <p:spPr>
          <a:xfrm xmlns:a="http://schemas.openxmlformats.org/drawingml/2006/main">
            <a:off x="609600" y="3105150"/>
            <a:ext cx="2286000" cy="1771650"/>
          </a:xfrm>
          <a:prstGeom xmlns:a="http://schemas.openxmlformats.org/drawingml/2006/main" prst="rect">
            <a:avLst/>
          </a:prstGeom>
          <a:solidFill xmlns:a="http://schemas.openxmlformats.org/drawingml/2006/main">
            <a:srgbClr val="112535"/>
          </a:solidFill>
          <a:ln xmlns:a="http://schemas.openxmlformats.org/drawingml/2006/main" w="14288">
            <a:solidFill>
              <a:srgbClr val="294252"/>
            </a:solidFill>
          </a:ln>
        </p:spPr>
      </p:sp>
      <p:sp>
        <p:nvSpPr>
          <p:cNvPr id="8" name="">
            <a:extLst xmlns:a="http://schemas.openxmlformats.org/drawingml/2006/main">
              <a:ext uri="{FF2B5EF4-FFF2-40B4-BE49-F238E27FC236}">
                <a16:creationId xmlns:a16="http://schemas.microsoft.com/office/drawing/2014/main" id="{300A0F38-1FA4-4D48-8D94-9D4ACD2BA296}"/>
              </a:ext>
            </a:extLst>
          </p:cNvPr>
          <p:cNvSpPr>
            <a:spLocks xmlns:a="http://schemas.openxmlformats.org/drawingml/2006/main" noGrp="1"/>
          </p:cNvSpPr>
          <p:nvPr/>
        </p:nvSpPr>
        <p:spPr>
          <a:xfrm xmlns:a="http://schemas.openxmlformats.org/drawingml/2006/main">
            <a:off x="3409950" y="3105150"/>
            <a:ext cx="2286000" cy="1771650"/>
          </a:xfrm>
          <a:prstGeom xmlns:a="http://schemas.openxmlformats.org/drawingml/2006/main" prst="rect">
            <a:avLst/>
          </a:prstGeom>
          <a:solidFill xmlns:a="http://schemas.openxmlformats.org/drawingml/2006/main">
            <a:srgbClr val="112535"/>
          </a:solidFill>
          <a:ln xmlns:a="http://schemas.openxmlformats.org/drawingml/2006/main" w="14288">
            <a:solidFill>
              <a:srgbClr val="294252"/>
            </a:solidFill>
          </a:ln>
        </p:spPr>
      </p:sp>
      <p:sp>
        <p:nvSpPr>
          <p:cNvPr id="9" name="">
            <a:extLst xmlns:a="http://schemas.openxmlformats.org/drawingml/2006/main">
              <a:ext uri="{FF2B5EF4-FFF2-40B4-BE49-F238E27FC236}">
                <a16:creationId xmlns:a16="http://schemas.microsoft.com/office/drawing/2014/main" id="{6E11E03F-4396-4049-BB17-748FF954D686}"/>
              </a:ext>
            </a:extLst>
          </p:cNvPr>
          <p:cNvSpPr>
            <a:spLocks xmlns:a="http://schemas.openxmlformats.org/drawingml/2006/main" noGrp="1"/>
          </p:cNvSpPr>
          <p:nvPr/>
        </p:nvSpPr>
        <p:spPr>
          <a:xfrm xmlns:a="http://schemas.openxmlformats.org/drawingml/2006/main">
            <a:off x="6210300" y="3105150"/>
            <a:ext cx="2286000" cy="1771650"/>
          </a:xfrm>
          <a:prstGeom xmlns:a="http://schemas.openxmlformats.org/drawingml/2006/main" prst="rect">
            <a:avLst/>
          </a:prstGeom>
          <a:solidFill xmlns:a="http://schemas.openxmlformats.org/drawingml/2006/main">
            <a:srgbClr val="112535"/>
          </a:solidFill>
          <a:ln xmlns:a="http://schemas.openxmlformats.org/drawingml/2006/main" w="14288">
            <a:solidFill>
              <a:srgbClr val="294252"/>
            </a:solidFill>
          </a:ln>
        </p:spPr>
      </p:sp>
      <p:sp>
        <p:nvSpPr>
          <p:cNvPr id="10" name="">
            <a:extLst xmlns:a="http://schemas.openxmlformats.org/drawingml/2006/main">
              <a:ext uri="{FF2B5EF4-FFF2-40B4-BE49-F238E27FC236}">
                <a16:creationId xmlns:a16="http://schemas.microsoft.com/office/drawing/2014/main" id="{D356203C-FE9D-457A-85CE-D06FC50A4BAB}"/>
              </a:ext>
            </a:extLst>
          </p:cNvPr>
          <p:cNvSpPr>
            <a:spLocks xmlns:a="http://schemas.openxmlformats.org/drawingml/2006/main" noGrp="1"/>
          </p:cNvSpPr>
          <p:nvPr/>
        </p:nvSpPr>
        <p:spPr>
          <a:xfrm xmlns:a="http://schemas.openxmlformats.org/drawingml/2006/main">
            <a:off x="9010650" y="3105150"/>
            <a:ext cx="2571750" cy="1771650"/>
          </a:xfrm>
          <a:prstGeom xmlns:a="http://schemas.openxmlformats.org/drawingml/2006/main" prst="rect">
            <a:avLst/>
          </a:prstGeom>
          <a:solidFill xmlns:a="http://schemas.openxmlformats.org/drawingml/2006/main">
            <a:srgbClr val="112535"/>
          </a:solidFill>
          <a:ln xmlns:a="http://schemas.openxmlformats.org/drawingml/2006/main" w="14288">
            <a:solidFill>
              <a:srgbClr val="294252"/>
            </a:solidFill>
          </a:ln>
        </p:spPr>
      </p:sp>
      <p:sp>
        <p:nvSpPr>
          <p:cNvPr id="11" name="">
            <a:extLst xmlns:a="http://schemas.openxmlformats.org/drawingml/2006/main">
              <a:ext uri="{FF2B5EF4-FFF2-40B4-BE49-F238E27FC236}">
                <a16:creationId xmlns:a16="http://schemas.microsoft.com/office/drawing/2014/main" id="{9DA85235-6EFA-4556-B634-62AE9119971C}"/>
              </a:ext>
            </a:extLst>
          </p:cNvPr>
          <p:cNvSpPr>
            <a:spLocks xmlns:a="http://schemas.openxmlformats.org/drawingml/2006/main" noGrp="1"/>
          </p:cNvSpPr>
          <p:nvPr/>
        </p:nvSpPr>
        <p:spPr>
          <a:xfrm xmlns:a="http://schemas.openxmlformats.org/drawingml/2006/main">
            <a:off x="781050" y="3286125"/>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RAW INPUT</a:t>
            </a:r>
          </a:p>
        </p:txBody>
      </p:sp>
      <p:sp>
        <p:nvSpPr>
          <p:cNvPr id="12" name="">
            <a:extLst xmlns:a="http://schemas.openxmlformats.org/drawingml/2006/main">
              <a:ext uri="{FF2B5EF4-FFF2-40B4-BE49-F238E27FC236}">
                <a16:creationId xmlns:a16="http://schemas.microsoft.com/office/drawing/2014/main" id="{83EC683D-1D6B-4654-9A95-CD292E43C6FF}"/>
              </a:ext>
            </a:extLst>
          </p:cNvPr>
          <p:cNvSpPr>
            <a:spLocks xmlns:a="http://schemas.openxmlformats.org/drawingml/2006/main" noGrp="1"/>
          </p:cNvSpPr>
          <p:nvPr/>
        </p:nvSpPr>
        <p:spPr>
          <a:xfrm xmlns:a="http://schemas.openxmlformats.org/drawingml/2006/main">
            <a:off x="3581400" y="3286125"/>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STAGE 1</a:t>
            </a:r>
          </a:p>
        </p:txBody>
      </p:sp>
      <p:sp>
        <p:nvSpPr>
          <p:cNvPr id="13" name="">
            <a:extLst xmlns:a="http://schemas.openxmlformats.org/drawingml/2006/main">
              <a:ext uri="{FF2B5EF4-FFF2-40B4-BE49-F238E27FC236}">
                <a16:creationId xmlns:a16="http://schemas.microsoft.com/office/drawing/2014/main" id="{42E3D599-96A3-4A69-BADF-1308C434EDF0}"/>
              </a:ext>
            </a:extLst>
          </p:cNvPr>
          <p:cNvSpPr>
            <a:spLocks xmlns:a="http://schemas.openxmlformats.org/drawingml/2006/main" noGrp="1"/>
          </p:cNvSpPr>
          <p:nvPr/>
        </p:nvSpPr>
        <p:spPr>
          <a:xfrm xmlns:a="http://schemas.openxmlformats.org/drawingml/2006/main">
            <a:off x="6381750" y="3286125"/>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STAGE 2</a:t>
            </a:r>
          </a:p>
        </p:txBody>
      </p:sp>
      <p:sp>
        <p:nvSpPr>
          <p:cNvPr id="14" name="">
            <a:extLst xmlns:a="http://schemas.openxmlformats.org/drawingml/2006/main">
              <a:ext uri="{FF2B5EF4-FFF2-40B4-BE49-F238E27FC236}">
                <a16:creationId xmlns:a16="http://schemas.microsoft.com/office/drawing/2014/main" id="{8D0BA067-451C-4C4A-B9D9-E539DF8C2BE1}"/>
              </a:ext>
            </a:extLst>
          </p:cNvPr>
          <p:cNvSpPr>
            <a:spLocks xmlns:a="http://schemas.openxmlformats.org/drawingml/2006/main" noGrp="1"/>
          </p:cNvSpPr>
          <p:nvPr/>
        </p:nvSpPr>
        <p:spPr>
          <a:xfrm xmlns:a="http://schemas.openxmlformats.org/drawingml/2006/main">
            <a:off x="9182100" y="3286125"/>
            <a:ext cx="2228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FINAL OUTPUT</a:t>
            </a:r>
          </a:p>
        </p:txBody>
      </p:sp>
      <p:sp>
        <p:nvSpPr>
          <p:cNvPr id="15" name="">
            <a:extLst xmlns:a="http://schemas.openxmlformats.org/drawingml/2006/main">
              <a:ext uri="{FF2B5EF4-FFF2-40B4-BE49-F238E27FC236}">
                <a16:creationId xmlns:a16="http://schemas.microsoft.com/office/drawing/2014/main" id="{08C2DDD0-72B4-436E-BEE8-6092DB54D5D6}"/>
              </a:ext>
            </a:extLst>
          </p:cNvPr>
          <p:cNvSpPr>
            <a:spLocks xmlns:a="http://schemas.openxmlformats.org/drawingml/2006/main" noGrp="1"/>
          </p:cNvSpPr>
          <p:nvPr/>
        </p:nvSpPr>
        <p:spPr>
          <a:xfrm xmlns:a="http://schemas.openxmlformats.org/drawingml/2006/main">
            <a:off x="781050" y="3638550"/>
            <a:ext cx="1943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F4F7FA"/>
                </a:solidFill>
                <a:latin typeface="Aptos"/>
                <a:ea typeface="Aptos"/>
                <a:cs typeface="Aptos"/>
              </a:defRPr>
            </a:pPr>
            <a:r>
              <a:rPr sz="2025" b="1">
                <a:solidFill>
                  <a:srgbClr val="F4F7FA"/>
                </a:solidFill>
                <a:latin typeface="Aptos"/>
                <a:ea typeface="Aptos"/>
                <a:cs typeface="Aptos"/>
              </a:rPr>
              <a:t>LTA telemetry</a:t>
            </a:r>
          </a:p>
        </p:txBody>
      </p:sp>
      <p:sp>
        <p:nvSpPr>
          <p:cNvPr id="16" name="">
            <a:extLst xmlns:a="http://schemas.openxmlformats.org/drawingml/2006/main">
              <a:ext uri="{FF2B5EF4-FFF2-40B4-BE49-F238E27FC236}">
                <a16:creationId xmlns:a16="http://schemas.microsoft.com/office/drawing/2014/main" id="{BEE14503-A58B-4F00-A712-6C75F78393B9}"/>
              </a:ext>
            </a:extLst>
          </p:cNvPr>
          <p:cNvSpPr>
            <a:spLocks xmlns:a="http://schemas.openxmlformats.org/drawingml/2006/main" noGrp="1"/>
          </p:cNvSpPr>
          <p:nvPr/>
        </p:nvSpPr>
        <p:spPr>
          <a:xfrm xmlns:a="http://schemas.openxmlformats.org/drawingml/2006/main">
            <a:off x="3581400" y="3638550"/>
            <a:ext cx="1943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F4F7FA"/>
                </a:solidFill>
                <a:latin typeface="Aptos"/>
                <a:ea typeface="Aptos"/>
                <a:cs typeface="Aptos"/>
              </a:defRPr>
            </a:pPr>
            <a:r>
              <a:rPr sz="2025" b="1">
                <a:solidFill>
                  <a:srgbClr val="F4F7FA"/>
                </a:solidFill>
                <a:latin typeface="Aptos"/>
                <a:ea typeface="Aptos"/>
                <a:cs typeface="Aptos"/>
              </a:rPr>
              <a:t>K-Means</a:t>
            </a:r>
          </a:p>
        </p:txBody>
      </p:sp>
      <p:sp>
        <p:nvSpPr>
          <p:cNvPr id="17" name="">
            <a:extLst xmlns:a="http://schemas.openxmlformats.org/drawingml/2006/main">
              <a:ext uri="{FF2B5EF4-FFF2-40B4-BE49-F238E27FC236}">
                <a16:creationId xmlns:a16="http://schemas.microsoft.com/office/drawing/2014/main" id="{5F2812A8-DCA8-4931-9F12-4DCCEDEE3477}"/>
              </a:ext>
            </a:extLst>
          </p:cNvPr>
          <p:cNvSpPr>
            <a:spLocks xmlns:a="http://schemas.openxmlformats.org/drawingml/2006/main" noGrp="1"/>
          </p:cNvSpPr>
          <p:nvPr/>
        </p:nvSpPr>
        <p:spPr>
          <a:xfrm xmlns:a="http://schemas.openxmlformats.org/drawingml/2006/main">
            <a:off x="6381750" y="3638550"/>
            <a:ext cx="1943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F4F7FA"/>
                </a:solidFill>
                <a:latin typeface="Aptos"/>
                <a:ea typeface="Aptos"/>
                <a:cs typeface="Aptos"/>
              </a:defRPr>
            </a:pPr>
            <a:r>
              <a:rPr sz="2025" b="1">
                <a:solidFill>
                  <a:srgbClr val="F4F7FA"/>
                </a:solidFill>
                <a:latin typeface="Aptos"/>
                <a:ea typeface="Aptos"/>
                <a:cs typeface="Aptos"/>
              </a:rPr>
              <a:t>Decision Tree</a:t>
            </a:r>
          </a:p>
        </p:txBody>
      </p:sp>
      <p:sp>
        <p:nvSpPr>
          <p:cNvPr id="18" name="">
            <a:extLst xmlns:a="http://schemas.openxmlformats.org/drawingml/2006/main">
              <a:ext uri="{FF2B5EF4-FFF2-40B4-BE49-F238E27FC236}">
                <a16:creationId xmlns:a16="http://schemas.microsoft.com/office/drawing/2014/main" id="{16DC5C90-2D63-4ACB-9C27-004213890C40}"/>
              </a:ext>
            </a:extLst>
          </p:cNvPr>
          <p:cNvSpPr>
            <a:spLocks xmlns:a="http://schemas.openxmlformats.org/drawingml/2006/main" noGrp="1"/>
          </p:cNvSpPr>
          <p:nvPr/>
        </p:nvSpPr>
        <p:spPr>
          <a:xfrm xmlns:a="http://schemas.openxmlformats.org/drawingml/2006/main">
            <a:off x="9182100" y="36385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F4F7FA"/>
                </a:solidFill>
                <a:latin typeface="Aptos"/>
                <a:ea typeface="Aptos"/>
                <a:cs typeface="Aptos"/>
              </a:defRPr>
            </a:pPr>
            <a:r>
              <a:rPr sz="2025" b="1">
                <a:solidFill>
                  <a:srgbClr val="F4F7FA"/>
                </a:solidFill>
                <a:latin typeface="Aptos"/>
                <a:ea typeface="Aptos"/>
                <a:cs typeface="Aptos"/>
              </a:rPr>
              <a:t>Normal / Critical</a:t>
            </a:r>
          </a:p>
        </p:txBody>
      </p:sp>
      <p:sp>
        <p:nvSpPr>
          <p:cNvPr id="19" name="">
            <a:extLst xmlns:a="http://schemas.openxmlformats.org/drawingml/2006/main">
              <a:ext uri="{FF2B5EF4-FFF2-40B4-BE49-F238E27FC236}">
                <a16:creationId xmlns:a16="http://schemas.microsoft.com/office/drawing/2014/main" id="{F06DA8F0-B6F7-417A-9FC5-DB439B6C0863}"/>
              </a:ext>
            </a:extLst>
          </p:cNvPr>
          <p:cNvSpPr>
            <a:spLocks xmlns:a="http://schemas.openxmlformats.org/drawingml/2006/main" noGrp="1"/>
          </p:cNvSpPr>
          <p:nvPr/>
        </p:nvSpPr>
        <p:spPr>
          <a:xfrm xmlns:a="http://schemas.openxmlformats.org/drawingml/2006/main">
            <a:off x="781050" y="4105275"/>
            <a:ext cx="1943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Five sensor</a:t>
            </a:r>
          </a:p>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features</a:t>
            </a:r>
          </a:p>
        </p:txBody>
      </p:sp>
      <p:sp>
        <p:nvSpPr>
          <p:cNvPr id="20" name="">
            <a:extLst xmlns:a="http://schemas.openxmlformats.org/drawingml/2006/main">
              <a:ext uri="{FF2B5EF4-FFF2-40B4-BE49-F238E27FC236}">
                <a16:creationId xmlns:a16="http://schemas.microsoft.com/office/drawing/2014/main" id="{51C3DABB-C1C6-4293-A06F-C9AFCEC737ED}"/>
              </a:ext>
            </a:extLst>
          </p:cNvPr>
          <p:cNvSpPr>
            <a:spLocks xmlns:a="http://schemas.openxmlformats.org/drawingml/2006/main" noGrp="1"/>
          </p:cNvSpPr>
          <p:nvPr/>
        </p:nvSpPr>
        <p:spPr>
          <a:xfrm xmlns:a="http://schemas.openxmlformats.org/drawingml/2006/main">
            <a:off x="3581400" y="4105275"/>
            <a:ext cx="1943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Healthy profile</a:t>
            </a:r>
          </a:p>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Anomaly distance</a:t>
            </a:r>
          </a:p>
        </p:txBody>
      </p:sp>
      <p:sp>
        <p:nvSpPr>
          <p:cNvPr id="21" name="">
            <a:extLst xmlns:a="http://schemas.openxmlformats.org/drawingml/2006/main">
              <a:ext uri="{FF2B5EF4-FFF2-40B4-BE49-F238E27FC236}">
                <a16:creationId xmlns:a16="http://schemas.microsoft.com/office/drawing/2014/main" id="{6788480D-D57C-4F24-A08A-C8A1F2524649}"/>
              </a:ext>
            </a:extLst>
          </p:cNvPr>
          <p:cNvSpPr>
            <a:spLocks xmlns:a="http://schemas.openxmlformats.org/drawingml/2006/main" noGrp="1"/>
          </p:cNvSpPr>
          <p:nvPr/>
        </p:nvSpPr>
        <p:spPr>
          <a:xfrm xmlns:a="http://schemas.openxmlformats.org/drawingml/2006/main">
            <a:off x="6381750" y="4105275"/>
            <a:ext cx="1943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Readable rules</a:t>
            </a:r>
          </a:p>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Maximum depth: 8</a:t>
            </a:r>
          </a:p>
        </p:txBody>
      </p:sp>
      <p:sp>
        <p:nvSpPr>
          <p:cNvPr id="22" name="">
            <a:extLst xmlns:a="http://schemas.openxmlformats.org/drawingml/2006/main">
              <a:ext uri="{FF2B5EF4-FFF2-40B4-BE49-F238E27FC236}">
                <a16:creationId xmlns:a16="http://schemas.microsoft.com/office/drawing/2014/main" id="{8D5D249A-8840-40A1-B894-AD5589879225}"/>
              </a:ext>
            </a:extLst>
          </p:cNvPr>
          <p:cNvSpPr>
            <a:spLocks xmlns:a="http://schemas.openxmlformats.org/drawingml/2006/main" noGrp="1"/>
          </p:cNvSpPr>
          <p:nvPr/>
        </p:nvSpPr>
        <p:spPr>
          <a:xfrm xmlns:a="http://schemas.openxmlformats.org/drawingml/2006/main">
            <a:off x="9182100" y="4105275"/>
            <a:ext cx="2228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Decision path</a:t>
            </a:r>
          </a:p>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CSV export</a:t>
            </a:r>
          </a:p>
        </p:txBody>
      </p:sp>
      <p:cxnSp>
        <p:nvCxnSpPr>
          <p:cNvPr id="53" name=""/>
          <p:cNvCxnSpPr>
            <a:stCxn xmlns:a="http://schemas.openxmlformats.org/drawingml/2006/main" id="7" idx="3"/>
            <a:endCxn xmlns:a="http://schemas.openxmlformats.org/drawingml/2006/main" id="8" idx="1"/>
          </p:cNvCxnSpPr>
          <p:nvPr/>
        </p:nvCxnSpPr>
        <p:spPr>
          <a:xfrm xmlns:a="http://schemas.openxmlformats.org/drawingml/2006/main">
            <a:off x="2895600" y="3990975"/>
            <a:ext cx="514350" cy="0"/>
          </a:xfrm>
          <a:prstGeom xmlns:a="http://schemas.openxmlformats.org/drawingml/2006/main" prst="straightConnector1">
            <a:avLst/>
          </a:prstGeom>
          <a:ln xmlns:a="http://schemas.openxmlformats.org/drawingml/2006/main" w="19050">
            <a:solidFill>
              <a:srgbClr val="39C6DD"/>
            </a:solidFill>
            <a:prstDash val="solid"/>
            <a:tailEnd type="triangle" w="sm" len="sm"/>
          </a:ln>
        </p:spPr>
      </p:cxnSp>
      <p:cxnSp>
        <p:nvCxnSpPr>
          <p:cNvPr id="54" name=""/>
          <p:cNvCxnSpPr>
            <a:stCxn xmlns:a="http://schemas.openxmlformats.org/drawingml/2006/main" id="8" idx="3"/>
            <a:endCxn xmlns:a="http://schemas.openxmlformats.org/drawingml/2006/main" id="9" idx="1"/>
          </p:cNvCxnSpPr>
          <p:nvPr/>
        </p:nvCxnSpPr>
        <p:spPr>
          <a:xfrm xmlns:a="http://schemas.openxmlformats.org/drawingml/2006/main">
            <a:off x="5695950" y="3990975"/>
            <a:ext cx="514350" cy="0"/>
          </a:xfrm>
          <a:prstGeom xmlns:a="http://schemas.openxmlformats.org/drawingml/2006/main" prst="straightConnector1">
            <a:avLst/>
          </a:prstGeom>
          <a:ln xmlns:a="http://schemas.openxmlformats.org/drawingml/2006/main" w="19050">
            <a:solidFill>
              <a:srgbClr val="39C6DD"/>
            </a:solidFill>
            <a:prstDash val="solid"/>
            <a:tailEnd type="triangle" w="sm" len="sm"/>
          </a:ln>
        </p:spPr>
      </p:cxnSp>
      <p:cxnSp>
        <p:nvCxnSpPr>
          <p:cNvPr id="55" name=""/>
          <p:cNvCxnSpPr>
            <a:stCxn xmlns:a="http://schemas.openxmlformats.org/drawingml/2006/main" id="9" idx="3"/>
            <a:endCxn xmlns:a="http://schemas.openxmlformats.org/drawingml/2006/main" id="10" idx="1"/>
          </p:cNvCxnSpPr>
          <p:nvPr/>
        </p:nvCxnSpPr>
        <p:spPr>
          <a:xfrm xmlns:a="http://schemas.openxmlformats.org/drawingml/2006/main">
            <a:off x="8496300" y="3990975"/>
            <a:ext cx="514350" cy="0"/>
          </a:xfrm>
          <a:prstGeom xmlns:a="http://schemas.openxmlformats.org/drawingml/2006/main" prst="straightConnector1">
            <a:avLst/>
          </a:prstGeom>
          <a:ln xmlns:a="http://schemas.openxmlformats.org/drawingml/2006/main" w="19050">
            <a:solidFill>
              <a:srgbClr val="39C6DD"/>
            </a:solidFill>
            <a:prstDash val="solid"/>
            <a:tailEnd type="triangle" w="sm" len="sm"/>
          </a:ln>
        </p:spPr>
      </p:cxnSp>
      <p:sp>
        <p:nvSpPr>
          <p:cNvPr id="26" name="">
            <a:extLst xmlns:a="http://schemas.openxmlformats.org/drawingml/2006/main">
              <a:ext uri="{FF2B5EF4-FFF2-40B4-BE49-F238E27FC236}">
                <a16:creationId xmlns:a16="http://schemas.microsoft.com/office/drawing/2014/main" id="{F3D2AA98-651D-463E-8ACB-189CFD7A2233}"/>
              </a:ext>
            </a:extLst>
          </p:cNvPr>
          <p:cNvSpPr>
            <a:spLocks xmlns:a="http://schemas.openxmlformats.org/drawingml/2006/main" noGrp="1"/>
          </p:cNvSpPr>
          <p:nvPr/>
        </p:nvSpPr>
        <p:spPr>
          <a:xfrm xmlns:a="http://schemas.openxmlformats.org/drawingml/2006/main">
            <a:off x="6210300" y="2171700"/>
            <a:ext cx="2286000" cy="561975"/>
          </a:xfrm>
          <a:prstGeom xmlns:a="http://schemas.openxmlformats.org/drawingml/2006/main" prst="rect">
            <a:avLst/>
          </a:prstGeom>
          <a:solidFill xmlns:a="http://schemas.openxmlformats.org/drawingml/2006/main">
            <a:srgbClr val="081521"/>
          </a:solidFill>
          <a:ln xmlns:a="http://schemas.openxmlformats.org/drawingml/2006/main" w="14288">
            <a:solidFill>
              <a:srgbClr val="39C6DD"/>
            </a:solidFill>
            <a:prstDash val="dash"/>
          </a:ln>
        </p:spPr>
      </p:sp>
      <p:sp>
        <p:nvSpPr>
          <p:cNvPr id="27" name="">
            <a:extLst xmlns:a="http://schemas.openxmlformats.org/drawingml/2006/main">
              <a:ext uri="{FF2B5EF4-FFF2-40B4-BE49-F238E27FC236}">
                <a16:creationId xmlns:a16="http://schemas.microsoft.com/office/drawing/2014/main" id="{55FCA081-A3CC-4AC4-94A7-439A55C05D2C}"/>
              </a:ext>
            </a:extLst>
          </p:cNvPr>
          <p:cNvSpPr>
            <a:spLocks xmlns:a="http://schemas.openxmlformats.org/drawingml/2006/main" noGrp="1"/>
          </p:cNvSpPr>
          <p:nvPr/>
        </p:nvSpPr>
        <p:spPr>
          <a:xfrm xmlns:a="http://schemas.openxmlformats.org/drawingml/2006/main">
            <a:off x="6353175" y="2276475"/>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SMOTE · Training only</a:t>
            </a:r>
          </a:p>
        </p:txBody>
      </p:sp>
      <p:cxnSp>
        <p:nvCxnSpPr>
          <p:cNvPr id="58" name=""/>
          <p:cNvCxnSpPr>
            <a:stCxn xmlns:a="http://schemas.openxmlformats.org/drawingml/2006/main" id="26" idx="2"/>
            <a:endCxn xmlns:a="http://schemas.openxmlformats.org/drawingml/2006/main" id="9" idx="0"/>
          </p:cNvCxnSpPr>
          <p:nvPr/>
        </p:nvCxnSpPr>
        <p:spPr>
          <a:xfrm xmlns:a="http://schemas.openxmlformats.org/drawingml/2006/main">
            <a:off x="7353300" y="2733675"/>
            <a:ext cx="0" cy="371475"/>
          </a:xfrm>
          <a:prstGeom xmlns:a="http://schemas.openxmlformats.org/drawingml/2006/main" prst="straightConnector1">
            <a:avLst/>
          </a:prstGeom>
          <a:ln xmlns:a="http://schemas.openxmlformats.org/drawingml/2006/main" w="19050">
            <a:solidFill>
              <a:srgbClr val="39C6DD"/>
            </a:solidFill>
            <a:prstDash val="dash"/>
            <a:tailEnd type="triangle" w="sm" len="sm"/>
          </a:ln>
        </p:spPr>
      </p:cxnSp>
      <p:sp>
        <p:nvSpPr>
          <p:cNvPr id="29" name="">
            <a:extLst xmlns:a="http://schemas.openxmlformats.org/drawingml/2006/main">
              <a:ext uri="{FF2B5EF4-FFF2-40B4-BE49-F238E27FC236}">
                <a16:creationId xmlns:a16="http://schemas.microsoft.com/office/drawing/2014/main" id="{850CB3CE-9516-490D-9BED-7E005C19219C}"/>
              </a:ext>
            </a:extLst>
          </p:cNvPr>
          <p:cNvSpPr>
            <a:spLocks xmlns:a="http://schemas.openxmlformats.org/drawingml/2006/main" noGrp="1"/>
          </p:cNvSpPr>
          <p:nvPr/>
        </p:nvSpPr>
        <p:spPr>
          <a:xfrm xmlns:a="http://schemas.openxmlformats.org/drawingml/2006/main">
            <a:off x="609600" y="52578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Motor current  ·  Motor voltage  ·  Electrodynamic force</a:t>
            </a:r>
          </a:p>
        </p:txBody>
      </p:sp>
      <p:sp>
        <p:nvSpPr>
          <p:cNvPr id="30" name="">
            <a:extLst xmlns:a="http://schemas.openxmlformats.org/drawingml/2006/main">
              <a:ext uri="{FF2B5EF4-FFF2-40B4-BE49-F238E27FC236}">
                <a16:creationId xmlns:a16="http://schemas.microsoft.com/office/drawing/2014/main" id="{63ADA18D-BBDC-48E0-8311-3846353D93AE}"/>
              </a:ext>
            </a:extLst>
          </p:cNvPr>
          <p:cNvSpPr>
            <a:spLocks xmlns:a="http://schemas.openxmlformats.org/drawingml/2006/main" noGrp="1"/>
          </p:cNvSpPr>
          <p:nvPr/>
        </p:nvSpPr>
        <p:spPr>
          <a:xfrm xmlns:a="http://schemas.openxmlformats.org/drawingml/2006/main">
            <a:off x="609600" y="56388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Door opening time  ·  Door closing time</a:t>
            </a:r>
          </a:p>
        </p:txBody>
      </p:sp>
    </p:spTree>
    <p:extLst>
      <p:ext uri="{BB962C8B-B14F-4D97-AF65-F5344CB8AC3E}">
        <p14:creationId xmlns:p14="http://schemas.microsoft.com/office/powerpoint/2010/main" val="1388780424"/>
      </p:ext>
    </p:extLst>
  </p:cSld>
</p:sld>
</file>

<file path=ppt/slides/slide3.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2E208A-8937-4DD0-B745-E9EB977A6B27}"/>
              </a:ext>
            </a:extLst>
          </p:cNvPr>
          <p:cNvSpPr>
            <a:spLocks xmlns:a="http://schemas.openxmlformats.org/drawingml/2006/main" noGrp="1"/>
          </p:cNvSpPr>
          <p:nvPr/>
        </p:nvSpPr>
        <p:spPr>
          <a:xfrm xmlns:a="http://schemas.openxmlformats.org/drawingml/2006/main">
            <a:off x="609600" y="3619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VALIDATION</a:t>
            </a:r>
          </a:p>
        </p:txBody>
      </p:sp>
      <p:sp>
        <p:nvSpPr>
          <p:cNvPr id="2" name="">
            <a:extLst xmlns:a="http://schemas.openxmlformats.org/drawingml/2006/main">
              <a:ext uri="{FF2B5EF4-FFF2-40B4-BE49-F238E27FC236}">
                <a16:creationId xmlns:a16="http://schemas.microsoft.com/office/drawing/2014/main" id="{3CB507A5-8D08-405F-B545-8DB98D4A5C00}"/>
              </a:ext>
            </a:extLst>
          </p:cNvPr>
          <p:cNvSpPr>
            <a:spLocks xmlns:a="http://schemas.openxmlformats.org/drawingml/2006/main" noGrp="1"/>
          </p:cNvSpPr>
          <p:nvPr/>
        </p:nvSpPr>
        <p:spPr>
          <a:xfrm xmlns:a="http://schemas.openxmlformats.org/drawingml/2006/main">
            <a:off x="609600" y="809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4F7FA"/>
                </a:solidFill>
                <a:latin typeface="Aptos"/>
                <a:ea typeface="Aptos"/>
                <a:cs typeface="Aptos"/>
              </a:defRPr>
            </a:pPr>
            <a:r>
              <a:rPr sz="3300" b="1">
                <a:solidFill>
                  <a:srgbClr val="F4F7FA"/>
                </a:solidFill>
                <a:latin typeface="Aptos"/>
                <a:ea typeface="Aptos"/>
                <a:cs typeface="Aptos"/>
              </a:rPr>
              <a:t>84.9% fault recall on the holdout set</a:t>
            </a:r>
          </a:p>
        </p:txBody>
      </p:sp>
      <p:sp>
        <p:nvSpPr>
          <p:cNvPr id="3" name="">
            <a:extLst xmlns:a="http://schemas.openxmlformats.org/drawingml/2006/main">
              <a:ext uri="{FF2B5EF4-FFF2-40B4-BE49-F238E27FC236}">
                <a16:creationId xmlns:a16="http://schemas.microsoft.com/office/drawing/2014/main" id="{C4EE6CD6-F726-40B8-9039-CC8405BD7B5A}"/>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29425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28E737-54EA-4E93-969C-A987BEC4127E}"/>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B8C6D5"/>
                </a:solidFill>
                <a:latin typeface="Aptos"/>
                <a:ea typeface="Aptos"/>
                <a:cs typeface="Aptos"/>
              </a:defRPr>
            </a:pPr>
            <a:r>
              <a:rPr sz="1050" b="0">
                <a:solidFill>
                  <a:srgbClr val="B8C6D5"/>
                </a:solidFill>
                <a:latin typeface="Aptos"/>
                <a:ea typeface="Aptos"/>
                <a:cs typeface="Aptos"/>
              </a:rPr>
              <a:t>The Out-liars  /  NEBULA X  /  TRACK 3</a:t>
            </a:r>
          </a:p>
        </p:txBody>
      </p:sp>
      <p:sp>
        <p:nvSpPr>
          <p:cNvPr id="5" name="">
            <a:extLst xmlns:a="http://schemas.openxmlformats.org/drawingml/2006/main">
              <a:ext uri="{FF2B5EF4-FFF2-40B4-BE49-F238E27FC236}">
                <a16:creationId xmlns:a16="http://schemas.microsoft.com/office/drawing/2014/main" id="{CA8C4A8A-B280-4AC9-9865-18D0FB78BA7C}"/>
              </a:ext>
            </a:extLst>
          </p:cNvPr>
          <p:cNvSpPr>
            <a:spLocks xmlns:a="http://schemas.openxmlformats.org/drawingml/2006/main" noGrp="1"/>
          </p:cNvSpPr>
          <p:nvPr/>
        </p:nvSpPr>
        <p:spPr>
          <a:xfrm xmlns:a="http://schemas.openxmlformats.org/drawingml/2006/main">
            <a:off x="11049000" y="6438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B8C6D5"/>
                </a:solidFill>
                <a:latin typeface="Aptos"/>
                <a:ea typeface="Aptos"/>
                <a:cs typeface="Aptos"/>
              </a:defRPr>
            </a:pPr>
            <a:r>
              <a:rPr sz="1350" b="0">
                <a:solidFill>
                  <a:srgbClr val="B8C6D5"/>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4F128C9A-293E-46CA-8896-7CE0EC91F651}"/>
              </a:ext>
            </a:extLst>
          </p:cNvPr>
          <p:cNvSpPr>
            <a:spLocks xmlns:a="http://schemas.openxmlformats.org/drawingml/2006/main" noGrp="1"/>
          </p:cNvSpPr>
          <p:nvPr/>
        </p:nvSpPr>
        <p:spPr>
          <a:xfrm xmlns:a="http://schemas.openxmlformats.org/drawingml/2006/main">
            <a:off x="609600" y="1781175"/>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050" b="1">
                <a:solidFill>
                  <a:srgbClr val="39C6DD"/>
                </a:solidFill>
                <a:latin typeface="Aptos"/>
                <a:ea typeface="Aptos"/>
                <a:cs typeface="Aptos"/>
              </a:defRPr>
            </a:pPr>
            <a:r>
              <a:rPr sz="10050" b="1">
                <a:solidFill>
                  <a:srgbClr val="39C6DD"/>
                </a:solidFill>
                <a:latin typeface="Aptos"/>
                <a:ea typeface="Aptos"/>
                <a:cs typeface="Aptos"/>
              </a:rPr>
              <a:t>84.9%</a:t>
            </a:r>
          </a:p>
        </p:txBody>
      </p:sp>
      <p:sp>
        <p:nvSpPr>
          <p:cNvPr id="7" name="">
            <a:extLst xmlns:a="http://schemas.openxmlformats.org/drawingml/2006/main">
              <a:ext uri="{FF2B5EF4-FFF2-40B4-BE49-F238E27FC236}">
                <a16:creationId xmlns:a16="http://schemas.microsoft.com/office/drawing/2014/main" id="{2C77C7E7-E51C-44E6-B9F8-CFF66ED81A2B}"/>
              </a:ext>
            </a:extLst>
          </p:cNvPr>
          <p:cNvSpPr>
            <a:spLocks xmlns:a="http://schemas.openxmlformats.org/drawingml/2006/main" noGrp="1"/>
          </p:cNvSpPr>
          <p:nvPr/>
        </p:nvSpPr>
        <p:spPr>
          <a:xfrm xmlns:a="http://schemas.openxmlformats.org/drawingml/2006/main">
            <a:off x="685800" y="33147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F4F7FA"/>
                </a:solidFill>
                <a:latin typeface="Aptos"/>
                <a:ea typeface="Aptos"/>
                <a:cs typeface="Aptos"/>
              </a:defRPr>
            </a:pPr>
            <a:r>
              <a:rPr sz="2400" b="0">
                <a:solidFill>
                  <a:srgbClr val="F4F7FA"/>
                </a:solidFill>
                <a:latin typeface="Aptos"/>
                <a:ea typeface="Aptos"/>
                <a:cs typeface="Aptos"/>
              </a:rPr>
              <a:t>of labeled faults detected</a:t>
            </a:r>
          </a:p>
        </p:txBody>
      </p:sp>
      <p:graphicFrame>
        <p:nvGraphicFramePr>
          <p:cNvPr id="23" name="Chart"/>
          <p:cNvGraphicFramePr/>
          <p:nvPr/>
        </p:nvGraphicFramePr>
        <p:xfrm>
          <a:off xmlns:a="http://schemas.openxmlformats.org/drawingml/2006/main" x="609600" y="3943350"/>
          <a:ext xmlns:a="http://schemas.openxmlformats.org/drawingml/2006/main" cx="7086600" cy="895350"/>
        </p:xfrm>
        <a:graphic xmlns:a="http://schemas.openxmlformats.org/drawingml/2006/main">
          <a:graphicData uri="http://schemas.openxmlformats.org/drawingml/2006/chart">
            <c:chart xmlns:r="http://schemas.openxmlformats.org/officeDocument/2006/relationships" xmlns:c="http://schemas.openxmlformats.org/drawingml/2006/chart" r:id="R4d2d4c8fc9d44f21"/>
          </a:graphicData>
        </a:graphic>
      </p:graphicFrame>
      <p:sp>
        <p:nvSpPr>
          <p:cNvPr id="9" name="">
            <a:extLst xmlns:a="http://schemas.openxmlformats.org/drawingml/2006/main">
              <a:ext uri="{FF2B5EF4-FFF2-40B4-BE49-F238E27FC236}">
                <a16:creationId xmlns:a16="http://schemas.microsoft.com/office/drawing/2014/main" id="{09EED980-7D4C-4153-820B-4F73AEC0157B}"/>
              </a:ext>
            </a:extLst>
          </p:cNvPr>
          <p:cNvSpPr>
            <a:spLocks xmlns:a="http://schemas.openxmlformats.org/drawingml/2006/main" noGrp="1"/>
          </p:cNvSpPr>
          <p:nvPr/>
        </p:nvSpPr>
        <p:spPr>
          <a:xfrm xmlns:a="http://schemas.openxmlformats.org/drawingml/2006/main">
            <a:off x="685800" y="49149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39C6DD"/>
                </a:solidFill>
                <a:latin typeface="Aptos"/>
                <a:ea typeface="Aptos"/>
                <a:cs typeface="Aptos"/>
              </a:defRPr>
            </a:pPr>
            <a:r>
              <a:rPr sz="1725" b="1">
                <a:solidFill>
                  <a:srgbClr val="39C6DD"/>
                </a:solidFill>
                <a:latin typeface="Aptos"/>
                <a:ea typeface="Aptos"/>
                <a:cs typeface="Aptos"/>
              </a:rPr>
              <a:t>Detected 84.9%</a:t>
            </a:r>
          </a:p>
        </p:txBody>
      </p:sp>
      <p:sp>
        <p:nvSpPr>
          <p:cNvPr id="10" name="">
            <a:extLst xmlns:a="http://schemas.openxmlformats.org/drawingml/2006/main">
              <a:ext uri="{FF2B5EF4-FFF2-40B4-BE49-F238E27FC236}">
                <a16:creationId xmlns:a16="http://schemas.microsoft.com/office/drawing/2014/main" id="{CFBF05CF-9BE5-4EDC-86D3-A4FBD3359188}"/>
              </a:ext>
            </a:extLst>
          </p:cNvPr>
          <p:cNvSpPr>
            <a:spLocks xmlns:a="http://schemas.openxmlformats.org/drawingml/2006/main" noGrp="1"/>
          </p:cNvSpPr>
          <p:nvPr/>
        </p:nvSpPr>
        <p:spPr>
          <a:xfrm xmlns:a="http://schemas.openxmlformats.org/drawingml/2006/main">
            <a:off x="5572125" y="49149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725" b="0">
                <a:solidFill>
                  <a:srgbClr val="B8C6D5"/>
                </a:solidFill>
                <a:latin typeface="Aptos"/>
                <a:ea typeface="Aptos"/>
                <a:cs typeface="Aptos"/>
              </a:defRPr>
            </a:pPr>
            <a:r>
              <a:rPr sz="1725" b="0">
                <a:solidFill>
                  <a:srgbClr val="B8C6D5"/>
                </a:solidFill>
                <a:latin typeface="Aptos"/>
                <a:ea typeface="Aptos"/>
                <a:cs typeface="Aptos"/>
              </a:rPr>
              <a:t>Missed 15.1%</a:t>
            </a:r>
          </a:p>
        </p:txBody>
      </p:sp>
      <p:sp>
        <p:nvSpPr>
          <p:cNvPr id="11" name="">
            <a:extLst xmlns:a="http://schemas.openxmlformats.org/drawingml/2006/main">
              <a:ext uri="{FF2B5EF4-FFF2-40B4-BE49-F238E27FC236}">
                <a16:creationId xmlns:a16="http://schemas.microsoft.com/office/drawing/2014/main" id="{72606328-5178-45BF-8D18-8929DC249601}"/>
              </a:ext>
            </a:extLst>
          </p:cNvPr>
          <p:cNvSpPr>
            <a:spLocks xmlns:a="http://schemas.openxmlformats.org/drawingml/2006/main" noGrp="1"/>
          </p:cNvSpPr>
          <p:nvPr/>
        </p:nvSpPr>
        <p:spPr>
          <a:xfrm xmlns:a="http://schemas.openxmlformats.org/drawingml/2006/main">
            <a:off x="8772525" y="2028825"/>
            <a:ext cx="2809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800" b="1">
                <a:solidFill>
                  <a:srgbClr val="F4F7FA"/>
                </a:solidFill>
                <a:latin typeface="Aptos"/>
                <a:ea typeface="Aptos"/>
                <a:cs typeface="Aptos"/>
              </a:defRPr>
            </a:pPr>
            <a:r>
              <a:rPr sz="4800" b="1">
                <a:solidFill>
                  <a:srgbClr val="F4F7FA"/>
                </a:solidFill>
                <a:latin typeface="Aptos"/>
                <a:ea typeface="Aptos"/>
                <a:cs typeface="Aptos"/>
              </a:rPr>
              <a:t>82.7%</a:t>
            </a:r>
          </a:p>
        </p:txBody>
      </p:sp>
      <p:sp>
        <p:nvSpPr>
          <p:cNvPr id="12" name="">
            <a:extLst xmlns:a="http://schemas.openxmlformats.org/drawingml/2006/main">
              <a:ext uri="{FF2B5EF4-FFF2-40B4-BE49-F238E27FC236}">
                <a16:creationId xmlns:a16="http://schemas.microsoft.com/office/drawing/2014/main" id="{E4DF6AF0-3E38-4651-B62B-0B4345EEA2B2}"/>
              </a:ext>
            </a:extLst>
          </p:cNvPr>
          <p:cNvSpPr>
            <a:spLocks xmlns:a="http://schemas.openxmlformats.org/drawingml/2006/main" noGrp="1"/>
          </p:cNvSpPr>
          <p:nvPr/>
        </p:nvSpPr>
        <p:spPr>
          <a:xfrm xmlns:a="http://schemas.openxmlformats.org/drawingml/2006/main">
            <a:off x="8772525" y="2914650"/>
            <a:ext cx="280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B8C6D5"/>
                </a:solidFill>
                <a:latin typeface="Aptos"/>
                <a:ea typeface="Aptos"/>
                <a:cs typeface="Aptos"/>
              </a:defRPr>
            </a:pPr>
            <a:r>
              <a:rPr sz="1875" b="0">
                <a:solidFill>
                  <a:srgbClr val="B8C6D5"/>
                </a:solidFill>
                <a:latin typeface="Aptos"/>
                <a:ea typeface="Aptos"/>
                <a:cs typeface="Aptos"/>
              </a:rPr>
              <a:t>Overall accuracy</a:t>
            </a:r>
          </a:p>
        </p:txBody>
      </p:sp>
      <p:sp>
        <p:nvSpPr>
          <p:cNvPr id="13" name="">
            <a:extLst xmlns:a="http://schemas.openxmlformats.org/drawingml/2006/main">
              <a:ext uri="{FF2B5EF4-FFF2-40B4-BE49-F238E27FC236}">
                <a16:creationId xmlns:a16="http://schemas.microsoft.com/office/drawing/2014/main" id="{6837FDDB-07CD-4466-936C-A67EF698B988}"/>
              </a:ext>
            </a:extLst>
          </p:cNvPr>
          <p:cNvSpPr>
            <a:spLocks xmlns:a="http://schemas.openxmlformats.org/drawingml/2006/main" noGrp="1"/>
          </p:cNvSpPr>
          <p:nvPr/>
        </p:nvSpPr>
        <p:spPr>
          <a:xfrm xmlns:a="http://schemas.openxmlformats.org/drawingml/2006/main">
            <a:off x="8772525" y="3857625"/>
            <a:ext cx="2809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800" b="1">
                <a:solidFill>
                  <a:srgbClr val="F4F7FA"/>
                </a:solidFill>
                <a:latin typeface="Aptos"/>
                <a:ea typeface="Aptos"/>
                <a:cs typeface="Aptos"/>
              </a:defRPr>
            </a:pPr>
            <a:r>
              <a:rPr sz="4800" b="1">
                <a:solidFill>
                  <a:srgbClr val="F4F7FA"/>
                </a:solidFill>
                <a:latin typeface="Aptos"/>
                <a:ea typeface="Aptos"/>
                <a:cs typeface="Aptos"/>
              </a:rPr>
              <a:t>72.8%</a:t>
            </a:r>
          </a:p>
        </p:txBody>
      </p:sp>
      <p:sp>
        <p:nvSpPr>
          <p:cNvPr id="14" name="">
            <a:extLst xmlns:a="http://schemas.openxmlformats.org/drawingml/2006/main">
              <a:ext uri="{FF2B5EF4-FFF2-40B4-BE49-F238E27FC236}">
                <a16:creationId xmlns:a16="http://schemas.microsoft.com/office/drawing/2014/main" id="{C811B5E6-98EE-4755-8740-79DA293A4F93}"/>
              </a:ext>
            </a:extLst>
          </p:cNvPr>
          <p:cNvSpPr>
            <a:spLocks xmlns:a="http://schemas.openxmlformats.org/drawingml/2006/main" noGrp="1"/>
          </p:cNvSpPr>
          <p:nvPr/>
        </p:nvSpPr>
        <p:spPr>
          <a:xfrm xmlns:a="http://schemas.openxmlformats.org/drawingml/2006/main">
            <a:off x="8772525" y="4743450"/>
            <a:ext cx="2809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B8C6D5"/>
                </a:solidFill>
                <a:latin typeface="Aptos"/>
                <a:ea typeface="Aptos"/>
                <a:cs typeface="Aptos"/>
              </a:defRPr>
            </a:pPr>
            <a:r>
              <a:rPr sz="1875" b="0">
                <a:solidFill>
                  <a:srgbClr val="B8C6D5"/>
                </a:solidFill>
                <a:latin typeface="Aptos"/>
                <a:ea typeface="Aptos"/>
                <a:cs typeface="Aptos"/>
              </a:rPr>
              <a:t>F1-score</a:t>
            </a:r>
          </a:p>
        </p:txBody>
      </p:sp>
      <p:sp>
        <p:nvSpPr>
          <p:cNvPr id="15" name="">
            <a:extLst xmlns:a="http://schemas.openxmlformats.org/drawingml/2006/main">
              <a:ext uri="{FF2B5EF4-FFF2-40B4-BE49-F238E27FC236}">
                <a16:creationId xmlns:a16="http://schemas.microsoft.com/office/drawing/2014/main" id="{F8838C65-8888-48D1-91CD-08ADD67D7523}"/>
              </a:ext>
            </a:extLst>
          </p:cNvPr>
          <p:cNvSpPr>
            <a:spLocks xmlns:a="http://schemas.openxmlformats.org/drawingml/2006/main" noGrp="1"/>
          </p:cNvSpPr>
          <p:nvPr/>
        </p:nvSpPr>
        <p:spPr>
          <a:xfrm xmlns:a="http://schemas.openxmlformats.org/drawingml/2006/main">
            <a:off x="609600" y="5705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Holdout test split. Operational warning time remains to be validated.</a:t>
            </a:r>
          </a:p>
        </p:txBody>
      </p:sp>
    </p:spTree>
    <p:extLst>
      <p:ext uri="{BB962C8B-B14F-4D97-AF65-F5344CB8AC3E}">
        <p14:creationId xmlns:p14="http://schemas.microsoft.com/office/powerpoint/2010/main" val="2047437759"/>
      </p:ext>
    </p:extLst>
  </p:cSld>
</p:sld>
</file>

<file path=ppt/slides/slide4.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10C607D-A46A-45AE-924D-27CC7D27153F}"/>
              </a:ext>
            </a:extLst>
          </p:cNvPr>
          <p:cNvSpPr>
            <a:spLocks xmlns:a="http://schemas.openxmlformats.org/drawingml/2006/main" noGrp="1"/>
          </p:cNvSpPr>
          <p:nvPr/>
        </p:nvSpPr>
        <p:spPr>
          <a:xfrm xmlns:a="http://schemas.openxmlformats.org/drawingml/2006/main">
            <a:off x="609600" y="3619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WORKING STREAMLIT PROTOTYPE</a:t>
            </a:r>
          </a:p>
        </p:txBody>
      </p:sp>
      <p:sp>
        <p:nvSpPr>
          <p:cNvPr id="2" name="">
            <a:extLst xmlns:a="http://schemas.openxmlformats.org/drawingml/2006/main">
              <a:ext uri="{FF2B5EF4-FFF2-40B4-BE49-F238E27FC236}">
                <a16:creationId xmlns:a16="http://schemas.microsoft.com/office/drawing/2014/main" id="{B4C29EEF-CABE-4615-A5D2-3A34A158830B}"/>
              </a:ext>
            </a:extLst>
          </p:cNvPr>
          <p:cNvSpPr>
            <a:spLocks xmlns:a="http://schemas.openxmlformats.org/drawingml/2006/main" noGrp="1"/>
          </p:cNvSpPr>
          <p:nvPr/>
        </p:nvSpPr>
        <p:spPr>
          <a:xfrm xmlns:a="http://schemas.openxmlformats.org/drawingml/2006/main">
            <a:off x="609600" y="809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4F7FA"/>
                </a:solidFill>
                <a:latin typeface="Aptos"/>
                <a:ea typeface="Aptos"/>
                <a:cs typeface="Aptos"/>
              </a:defRPr>
            </a:pPr>
            <a:r>
              <a:rPr sz="3300" b="1">
                <a:solidFill>
                  <a:srgbClr val="F4F7FA"/>
                </a:solidFill>
                <a:latin typeface="Aptos"/>
                <a:ea typeface="Aptos"/>
                <a:cs typeface="Aptos"/>
              </a:rPr>
              <a:t>Operator dashboard</a:t>
            </a:r>
          </a:p>
        </p:txBody>
      </p:sp>
      <p:sp>
        <p:nvSpPr>
          <p:cNvPr id="3" name="">
            <a:extLst xmlns:a="http://schemas.openxmlformats.org/drawingml/2006/main">
              <a:ext uri="{FF2B5EF4-FFF2-40B4-BE49-F238E27FC236}">
                <a16:creationId xmlns:a16="http://schemas.microsoft.com/office/drawing/2014/main" id="{60E3F1DE-72B2-42F1-A868-4076E66C3817}"/>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29425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02748E-C015-4A20-B01B-037B54D5099B}"/>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B8C6D5"/>
                </a:solidFill>
                <a:latin typeface="Aptos"/>
                <a:ea typeface="Aptos"/>
                <a:cs typeface="Aptos"/>
              </a:defRPr>
            </a:pPr>
            <a:r>
              <a:rPr sz="1050" b="0">
                <a:solidFill>
                  <a:srgbClr val="B8C6D5"/>
                </a:solidFill>
                <a:latin typeface="Aptos"/>
                <a:ea typeface="Aptos"/>
                <a:cs typeface="Aptos"/>
              </a:rPr>
              <a:t>The Out-liars  /  NEBULA X  /  TRACK 3</a:t>
            </a:r>
          </a:p>
        </p:txBody>
      </p:sp>
      <p:sp>
        <p:nvSpPr>
          <p:cNvPr id="5" name="">
            <a:extLst xmlns:a="http://schemas.openxmlformats.org/drawingml/2006/main">
              <a:ext uri="{FF2B5EF4-FFF2-40B4-BE49-F238E27FC236}">
                <a16:creationId xmlns:a16="http://schemas.microsoft.com/office/drawing/2014/main" id="{D12273AB-125E-45B5-B2FD-38E69F830FE2}"/>
              </a:ext>
            </a:extLst>
          </p:cNvPr>
          <p:cNvSpPr>
            <a:spLocks xmlns:a="http://schemas.openxmlformats.org/drawingml/2006/main" noGrp="1"/>
          </p:cNvSpPr>
          <p:nvPr/>
        </p:nvSpPr>
        <p:spPr>
          <a:xfrm xmlns:a="http://schemas.openxmlformats.org/drawingml/2006/main">
            <a:off x="11049000" y="6438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B8C6D5"/>
                </a:solidFill>
                <a:latin typeface="Aptos"/>
                <a:ea typeface="Aptos"/>
                <a:cs typeface="Aptos"/>
              </a:defRPr>
            </a:pPr>
            <a:r>
              <a:rPr sz="1350" b="0">
                <a:solidFill>
                  <a:srgbClr val="B8C6D5"/>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C3209A59-CB05-42CE-B497-0D161B6865B1}"/>
              </a:ext>
            </a:extLst>
          </p:cNvPr>
          <p:cNvSpPr>
            <a:spLocks xmlns:a="http://schemas.openxmlformats.org/drawingml/2006/main" noGrp="1"/>
          </p:cNvSpPr>
          <p:nvPr/>
        </p:nvSpPr>
        <p:spPr>
          <a:xfrm xmlns:a="http://schemas.openxmlformats.org/drawingml/2006/main">
            <a:off x="609600" y="15049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Illustrative interface · simulated telemetry</a:t>
            </a:r>
          </a:p>
        </p:txBody>
      </p:sp>
      <p:sp>
        <p:nvSpPr>
          <p:cNvPr id="7" name="">
            <a:extLst xmlns:a="http://schemas.openxmlformats.org/drawingml/2006/main">
              <a:ext uri="{FF2B5EF4-FFF2-40B4-BE49-F238E27FC236}">
                <a16:creationId xmlns:a16="http://schemas.microsoft.com/office/drawing/2014/main" id="{91D5EDA2-9343-4A4D-9178-72840E60D440}"/>
              </a:ext>
            </a:extLst>
          </p:cNvPr>
          <p:cNvSpPr>
            <a:spLocks xmlns:a="http://schemas.openxmlformats.org/drawingml/2006/main" noGrp="1"/>
          </p:cNvSpPr>
          <p:nvPr/>
        </p:nvSpPr>
        <p:spPr>
          <a:xfrm xmlns:a="http://schemas.openxmlformats.org/drawingml/2006/main">
            <a:off x="609600" y="2085975"/>
            <a:ext cx="7620000" cy="3781425"/>
          </a:xfrm>
          <a:prstGeom xmlns:a="http://schemas.openxmlformats.org/drawingml/2006/main" prst="rect">
            <a:avLst/>
          </a:prstGeom>
          <a:solidFill xmlns:a="http://schemas.openxmlformats.org/drawingml/2006/main">
            <a:srgbClr val="10212E"/>
          </a:solidFill>
          <a:ln xmlns:a="http://schemas.openxmlformats.org/drawingml/2006/main" w="14288">
            <a:solidFill>
              <a:srgbClr val="294252"/>
            </a:solidFill>
          </a:ln>
        </p:spPr>
      </p:sp>
      <p:sp>
        <p:nvSpPr>
          <p:cNvPr id="8" name="">
            <a:extLst xmlns:a="http://schemas.openxmlformats.org/drawingml/2006/main">
              <a:ext uri="{FF2B5EF4-FFF2-40B4-BE49-F238E27FC236}">
                <a16:creationId xmlns:a16="http://schemas.microsoft.com/office/drawing/2014/main" id="{E6A56B69-986A-4ADD-BC13-8EFF11B902A0}"/>
              </a:ext>
            </a:extLst>
          </p:cNvPr>
          <p:cNvSpPr>
            <a:spLocks xmlns:a="http://schemas.openxmlformats.org/drawingml/2006/main" noGrp="1"/>
          </p:cNvSpPr>
          <p:nvPr/>
        </p:nvSpPr>
        <p:spPr>
          <a:xfrm xmlns:a="http://schemas.openxmlformats.org/drawingml/2006/main">
            <a:off x="828675" y="22574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1">
                <a:solidFill>
                  <a:srgbClr val="F4F7FA"/>
                </a:solidFill>
                <a:latin typeface="Aptos"/>
                <a:ea typeface="Aptos"/>
                <a:cs typeface="Aptos"/>
              </a:defRPr>
            </a:pPr>
            <a:r>
              <a:rPr sz="1500" b="1">
                <a:solidFill>
                  <a:srgbClr val="F4F7FA"/>
                </a:solidFill>
                <a:latin typeface="Aptos"/>
                <a:ea typeface="Aptos"/>
                <a:cs typeface="Aptos"/>
              </a:rPr>
              <a:t>DOOR HEALTH MONITOR</a:t>
            </a:r>
          </a:p>
        </p:txBody>
      </p:sp>
      <p:sp>
        <p:nvSpPr>
          <p:cNvPr id="9" name="">
            <a:extLst xmlns:a="http://schemas.openxmlformats.org/drawingml/2006/main">
              <a:ext uri="{FF2B5EF4-FFF2-40B4-BE49-F238E27FC236}">
                <a16:creationId xmlns:a16="http://schemas.microsoft.com/office/drawing/2014/main" id="{0A7E087D-6E97-48C9-80AD-D3CBF769FC18}"/>
              </a:ext>
            </a:extLst>
          </p:cNvPr>
          <p:cNvSpPr>
            <a:spLocks xmlns:a="http://schemas.openxmlformats.org/drawingml/2006/main" noGrp="1"/>
          </p:cNvSpPr>
          <p:nvPr/>
        </p:nvSpPr>
        <p:spPr>
          <a:xfrm xmlns:a="http://schemas.openxmlformats.org/drawingml/2006/main">
            <a:off x="819150" y="2686050"/>
            <a:ext cx="7191375" cy="9525"/>
          </a:xfrm>
          <a:prstGeom xmlns:a="http://schemas.openxmlformats.org/drawingml/2006/main" prst="rect">
            <a:avLst/>
          </a:prstGeom>
          <a:solidFill xmlns:a="http://schemas.openxmlformats.org/drawingml/2006/main">
            <a:srgbClr val="29425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EE346B7-B09C-45CC-B9FF-8346AAC4CB87}"/>
              </a:ext>
            </a:extLst>
          </p:cNvPr>
          <p:cNvSpPr>
            <a:spLocks xmlns:a="http://schemas.openxmlformats.org/drawingml/2006/main" noGrp="1"/>
          </p:cNvSpPr>
          <p:nvPr/>
        </p:nvSpPr>
        <p:spPr>
          <a:xfrm xmlns:a="http://schemas.openxmlformats.org/drawingml/2006/main">
            <a:off x="847725" y="284797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F4F7FA"/>
                </a:solidFill>
                <a:latin typeface="Aptos"/>
                <a:ea typeface="Aptos"/>
                <a:cs typeface="Aptos"/>
              </a:defRPr>
            </a:pPr>
            <a:r>
              <a:rPr sz="1725" b="1">
                <a:solidFill>
                  <a:srgbClr val="F4F7FA"/>
                </a:solidFill>
                <a:latin typeface="Aptos"/>
                <a:ea typeface="Aptos"/>
                <a:cs typeface="Aptos"/>
              </a:rPr>
              <a:t>Sensor telemetry</a:t>
            </a:r>
          </a:p>
        </p:txBody>
      </p:sp>
      <p:sp>
        <p:nvSpPr>
          <p:cNvPr id="11" name="">
            <a:extLst xmlns:a="http://schemas.openxmlformats.org/drawingml/2006/main">
              <a:ext uri="{FF2B5EF4-FFF2-40B4-BE49-F238E27FC236}">
                <a16:creationId xmlns:a16="http://schemas.microsoft.com/office/drawing/2014/main" id="{18901233-4054-4822-B08F-DFA4005286D0}"/>
              </a:ext>
            </a:extLst>
          </p:cNvPr>
          <p:cNvSpPr>
            <a:spLocks xmlns:a="http://schemas.openxmlformats.org/drawingml/2006/main" noGrp="1"/>
          </p:cNvSpPr>
          <p:nvPr/>
        </p:nvSpPr>
        <p:spPr>
          <a:xfrm xmlns:a="http://schemas.openxmlformats.org/drawingml/2006/main">
            <a:off x="857250" y="32004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B8C6D5"/>
                </a:solidFill>
                <a:latin typeface="Aptos"/>
                <a:ea typeface="Aptos"/>
                <a:cs typeface="Aptos"/>
              </a:defRPr>
            </a:pPr>
            <a:r>
              <a:rPr sz="1275" b="0">
                <a:solidFill>
                  <a:srgbClr val="B8C6D5"/>
                </a:solidFill>
                <a:latin typeface="Aptos"/>
                <a:ea typeface="Aptos"/>
                <a:cs typeface="Aptos"/>
              </a:rPr>
              <a:t>Illustrative signal</a:t>
            </a:r>
          </a:p>
        </p:txBody>
      </p:sp>
      <p:graphicFrame>
        <p:nvGraphicFramePr>
          <p:cNvPr id="46" name="Chart"/>
          <p:cNvGraphicFramePr/>
          <p:nvPr/>
        </p:nvGraphicFramePr>
        <p:xfrm>
          <a:off xmlns:a="http://schemas.openxmlformats.org/drawingml/2006/main" x="790575" y="3552825"/>
          <a:ext xmlns:a="http://schemas.openxmlformats.org/drawingml/2006/main" cx="3086100" cy="1104900"/>
        </p:xfrm>
        <a:graphic xmlns:a="http://schemas.openxmlformats.org/drawingml/2006/main">
          <a:graphicData uri="http://schemas.openxmlformats.org/drawingml/2006/chart">
            <c:chart xmlns:r="http://schemas.openxmlformats.org/officeDocument/2006/relationships" xmlns:c="http://schemas.openxmlformats.org/drawingml/2006/chart" r:id="R43fff82593494bae"/>
          </a:graphicData>
        </a:graphic>
      </p:graphicFrame>
      <p:sp>
        <p:nvSpPr>
          <p:cNvPr id="13" name="">
            <a:extLst xmlns:a="http://schemas.openxmlformats.org/drawingml/2006/main">
              <a:ext uri="{FF2B5EF4-FFF2-40B4-BE49-F238E27FC236}">
                <a16:creationId xmlns:a16="http://schemas.microsoft.com/office/drawing/2014/main" id="{88576470-594F-47B4-9287-F755A80F2490}"/>
              </a:ext>
            </a:extLst>
          </p:cNvPr>
          <p:cNvSpPr>
            <a:spLocks xmlns:a="http://schemas.openxmlformats.org/drawingml/2006/main" noGrp="1"/>
          </p:cNvSpPr>
          <p:nvPr/>
        </p:nvSpPr>
        <p:spPr>
          <a:xfrm xmlns:a="http://schemas.openxmlformats.org/drawingml/2006/main">
            <a:off x="4238625" y="2847975"/>
            <a:ext cx="3571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F4F7FA"/>
                </a:solidFill>
                <a:latin typeface="Aptos"/>
                <a:ea typeface="Aptos"/>
                <a:cs typeface="Aptos"/>
              </a:defRPr>
            </a:pPr>
            <a:r>
              <a:rPr sz="1725" b="1">
                <a:solidFill>
                  <a:srgbClr val="F4F7FA"/>
                </a:solidFill>
                <a:latin typeface="Aptos"/>
                <a:ea typeface="Aptos"/>
                <a:cs typeface="Aptos"/>
              </a:rPr>
              <a:t>Decision path</a:t>
            </a:r>
          </a:p>
        </p:txBody>
      </p:sp>
      <p:sp>
        <p:nvSpPr>
          <p:cNvPr id="14" name="">
            <a:extLst xmlns:a="http://schemas.openxmlformats.org/drawingml/2006/main">
              <a:ext uri="{FF2B5EF4-FFF2-40B4-BE49-F238E27FC236}">
                <a16:creationId xmlns:a16="http://schemas.microsoft.com/office/drawing/2014/main" id="{4A543F16-F36F-4E06-B6F1-4000963338EC}"/>
              </a:ext>
            </a:extLst>
          </p:cNvPr>
          <p:cNvSpPr>
            <a:spLocks xmlns:a="http://schemas.openxmlformats.org/drawingml/2006/main" noGrp="1"/>
          </p:cNvSpPr>
          <p:nvPr/>
        </p:nvSpPr>
        <p:spPr>
          <a:xfrm xmlns:a="http://schemas.openxmlformats.org/drawingml/2006/main">
            <a:off x="4838700" y="3333750"/>
            <a:ext cx="2524125" cy="504825"/>
          </a:xfrm>
          <a:prstGeom xmlns:a="http://schemas.openxmlformats.org/drawingml/2006/main" prst="rect">
            <a:avLst/>
          </a:prstGeom>
          <a:solidFill xmlns:a="http://schemas.openxmlformats.org/drawingml/2006/main">
            <a:srgbClr val="112535"/>
          </a:solidFill>
          <a:ln xmlns:a="http://schemas.openxmlformats.org/drawingml/2006/main" w="14288">
            <a:solidFill>
              <a:srgbClr val="294252"/>
            </a:solidFill>
          </a:ln>
        </p:spPr>
      </p:sp>
      <p:sp>
        <p:nvSpPr>
          <p:cNvPr id="15" name="">
            <a:extLst xmlns:a="http://schemas.openxmlformats.org/drawingml/2006/main">
              <a:ext uri="{FF2B5EF4-FFF2-40B4-BE49-F238E27FC236}">
                <a16:creationId xmlns:a16="http://schemas.microsoft.com/office/drawing/2014/main" id="{C6404FB1-0994-4571-A282-CB8C268BC4A9}"/>
              </a:ext>
            </a:extLst>
          </p:cNvPr>
          <p:cNvSpPr>
            <a:spLocks xmlns:a="http://schemas.openxmlformats.org/drawingml/2006/main" noGrp="1"/>
          </p:cNvSpPr>
          <p:nvPr/>
        </p:nvSpPr>
        <p:spPr>
          <a:xfrm xmlns:a="http://schemas.openxmlformats.org/drawingml/2006/main">
            <a:off x="4924425" y="3438525"/>
            <a:ext cx="2352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0">
                <a:solidFill>
                  <a:srgbClr val="F4F7FA"/>
                </a:solidFill>
                <a:latin typeface="Aptos"/>
                <a:ea typeface="Aptos"/>
                <a:cs typeface="Aptos"/>
              </a:defRPr>
            </a:pPr>
            <a:r>
              <a:rPr sz="1500" b="0">
                <a:solidFill>
                  <a:srgbClr val="F4F7FA"/>
                </a:solidFill>
                <a:latin typeface="Aptos"/>
                <a:ea typeface="Aptos"/>
                <a:cs typeface="Aptos"/>
              </a:rPr>
              <a:t>Sensor condition</a:t>
            </a:r>
          </a:p>
        </p:txBody>
      </p:sp>
      <p:sp>
        <p:nvSpPr>
          <p:cNvPr id="16" name="">
            <a:extLst xmlns:a="http://schemas.openxmlformats.org/drawingml/2006/main">
              <a:ext uri="{FF2B5EF4-FFF2-40B4-BE49-F238E27FC236}">
                <a16:creationId xmlns:a16="http://schemas.microsoft.com/office/drawing/2014/main" id="{C059E78A-74EC-4786-B050-95BB8FDEDC32}"/>
              </a:ext>
            </a:extLst>
          </p:cNvPr>
          <p:cNvSpPr>
            <a:spLocks xmlns:a="http://schemas.openxmlformats.org/drawingml/2006/main" noGrp="1"/>
          </p:cNvSpPr>
          <p:nvPr/>
        </p:nvSpPr>
        <p:spPr>
          <a:xfrm xmlns:a="http://schemas.openxmlformats.org/drawingml/2006/main">
            <a:off x="4314825" y="4276725"/>
            <a:ext cx="1514475" cy="485775"/>
          </a:xfrm>
          <a:prstGeom xmlns:a="http://schemas.openxmlformats.org/drawingml/2006/main" prst="rect">
            <a:avLst/>
          </a:prstGeom>
          <a:solidFill xmlns:a="http://schemas.openxmlformats.org/drawingml/2006/main">
            <a:srgbClr val="14382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3B0869C-7902-469A-8EEE-B913715568AB}"/>
              </a:ext>
            </a:extLst>
          </p:cNvPr>
          <p:cNvSpPr>
            <a:spLocks xmlns:a="http://schemas.openxmlformats.org/drawingml/2006/main" noGrp="1"/>
          </p:cNvSpPr>
          <p:nvPr/>
        </p:nvSpPr>
        <p:spPr>
          <a:xfrm xmlns:a="http://schemas.openxmlformats.org/drawingml/2006/main">
            <a:off x="4391025" y="4381500"/>
            <a:ext cx="1362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1">
                <a:solidFill>
                  <a:srgbClr val="37C98B"/>
                </a:solidFill>
                <a:latin typeface="Aptos"/>
                <a:ea typeface="Aptos"/>
                <a:cs typeface="Aptos"/>
              </a:defRPr>
            </a:pPr>
            <a:r>
              <a:rPr sz="1350" b="1">
                <a:solidFill>
                  <a:srgbClr val="37C98B"/>
                </a:solidFill>
                <a:latin typeface="Aptos"/>
                <a:ea typeface="Aptos"/>
                <a:cs typeface="Aptos"/>
              </a:rPr>
              <a:t>NORMAL</a:t>
            </a:r>
          </a:p>
        </p:txBody>
      </p:sp>
      <p:sp>
        <p:nvSpPr>
          <p:cNvPr id="18" name="">
            <a:extLst xmlns:a="http://schemas.openxmlformats.org/drawingml/2006/main">
              <a:ext uri="{FF2B5EF4-FFF2-40B4-BE49-F238E27FC236}">
                <a16:creationId xmlns:a16="http://schemas.microsoft.com/office/drawing/2014/main" id="{E96036CC-9DAD-4B51-819A-CEC8996A3BB1}"/>
              </a:ext>
            </a:extLst>
          </p:cNvPr>
          <p:cNvSpPr>
            <a:spLocks xmlns:a="http://schemas.openxmlformats.org/drawingml/2006/main" noGrp="1"/>
          </p:cNvSpPr>
          <p:nvPr/>
        </p:nvSpPr>
        <p:spPr>
          <a:xfrm xmlns:a="http://schemas.openxmlformats.org/drawingml/2006/main">
            <a:off x="6267450" y="4276725"/>
            <a:ext cx="1514475" cy="485775"/>
          </a:xfrm>
          <a:prstGeom xmlns:a="http://schemas.openxmlformats.org/drawingml/2006/main" prst="rect">
            <a:avLst/>
          </a:prstGeom>
          <a:solidFill xmlns:a="http://schemas.openxmlformats.org/drawingml/2006/main">
            <a:srgbClr val="41232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F4F820B-1192-4FBE-8D1D-085D5E34AB35}"/>
              </a:ext>
            </a:extLst>
          </p:cNvPr>
          <p:cNvSpPr>
            <a:spLocks xmlns:a="http://schemas.openxmlformats.org/drawingml/2006/main" noGrp="1"/>
          </p:cNvSpPr>
          <p:nvPr/>
        </p:nvSpPr>
        <p:spPr>
          <a:xfrm xmlns:a="http://schemas.openxmlformats.org/drawingml/2006/main">
            <a:off x="6343650" y="4381500"/>
            <a:ext cx="1362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350" b="1">
                <a:solidFill>
                  <a:srgbClr val="FF6470"/>
                </a:solidFill>
                <a:latin typeface="Aptos"/>
                <a:ea typeface="Aptos"/>
                <a:cs typeface="Aptos"/>
              </a:defRPr>
            </a:pPr>
            <a:r>
              <a:rPr sz="1350" b="1">
                <a:solidFill>
                  <a:srgbClr val="FF6470"/>
                </a:solidFill>
                <a:latin typeface="Aptos"/>
                <a:ea typeface="Aptos"/>
                <a:cs typeface="Aptos"/>
              </a:rPr>
              <a:t>CRITICAL</a:t>
            </a:r>
          </a:p>
        </p:txBody>
      </p:sp>
      <p:cxnSp>
        <p:nvCxnSpPr>
          <p:cNvPr id="54" name=""/>
          <p:cNvCxnSpPr>
            <a:stCxn xmlns:a="http://schemas.openxmlformats.org/drawingml/2006/main" id="14" idx="2"/>
            <a:endCxn xmlns:a="http://schemas.openxmlformats.org/drawingml/2006/main" id="16" idx="0"/>
          </p:cNvCxnSpPr>
          <p:nvPr/>
        </p:nvCxnSpPr>
        <p:spPr>
          <a:xfrm xmlns:a="http://schemas.openxmlformats.org/drawingml/2006/main" flipH="1">
            <a:off x="5072063" y="3838575"/>
            <a:ext cx="1028700" cy="438150"/>
          </a:xfrm>
          <a:prstGeom xmlns:a="http://schemas.openxmlformats.org/drawingml/2006/main" prst="straightConnector1">
            <a:avLst/>
          </a:prstGeom>
          <a:ln xmlns:a="http://schemas.openxmlformats.org/drawingml/2006/main" w="19050">
            <a:solidFill>
              <a:srgbClr val="39C6DD"/>
            </a:solidFill>
            <a:prstDash val="solid"/>
            <a:tailEnd type="triangle" w="sm" len="sm"/>
          </a:ln>
        </p:spPr>
      </p:cxnSp>
      <p:cxnSp>
        <p:nvCxnSpPr>
          <p:cNvPr id="55" name=""/>
          <p:cNvCxnSpPr>
            <a:stCxn xmlns:a="http://schemas.openxmlformats.org/drawingml/2006/main" id="14" idx="2"/>
            <a:endCxn xmlns:a="http://schemas.openxmlformats.org/drawingml/2006/main" id="18" idx="0"/>
          </p:cNvCxnSpPr>
          <p:nvPr/>
        </p:nvCxnSpPr>
        <p:spPr>
          <a:xfrm xmlns:a="http://schemas.openxmlformats.org/drawingml/2006/main">
            <a:off x="6100763" y="3838575"/>
            <a:ext cx="923925" cy="438150"/>
          </a:xfrm>
          <a:prstGeom xmlns:a="http://schemas.openxmlformats.org/drawingml/2006/main" prst="straightConnector1">
            <a:avLst/>
          </a:prstGeom>
          <a:ln xmlns:a="http://schemas.openxmlformats.org/drawingml/2006/main" w="19050">
            <a:solidFill>
              <a:srgbClr val="39C6DD"/>
            </a:solidFill>
            <a:prstDash val="solid"/>
            <a:tailEnd type="triangle" w="sm" len="sm"/>
          </a:ln>
        </p:spPr>
      </p:cxnSp>
      <p:sp>
        <p:nvSpPr>
          <p:cNvPr id="22" name="">
            <a:extLst xmlns:a="http://schemas.openxmlformats.org/drawingml/2006/main">
              <a:ext uri="{FF2B5EF4-FFF2-40B4-BE49-F238E27FC236}">
                <a16:creationId xmlns:a16="http://schemas.microsoft.com/office/drawing/2014/main" id="{4038F3B2-23B0-4344-ADAA-C37A5EEA07A0}"/>
              </a:ext>
            </a:extLst>
          </p:cNvPr>
          <p:cNvSpPr>
            <a:spLocks xmlns:a="http://schemas.openxmlformats.org/drawingml/2006/main" noGrp="1"/>
          </p:cNvSpPr>
          <p:nvPr/>
        </p:nvSpPr>
        <p:spPr>
          <a:xfrm xmlns:a="http://schemas.openxmlformats.org/drawingml/2006/main">
            <a:off x="4191000" y="4905375"/>
            <a:ext cx="3781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00" b="0">
                <a:solidFill>
                  <a:srgbClr val="B8C6D5"/>
                </a:solidFill>
                <a:latin typeface="Aptos"/>
                <a:ea typeface="Aptos"/>
                <a:cs typeface="Aptos"/>
              </a:defRPr>
            </a:pPr>
            <a:r>
              <a:rPr sz="1200" b="0">
                <a:solidFill>
                  <a:srgbClr val="B8C6D5"/>
                </a:solidFill>
                <a:latin typeface="Aptos"/>
                <a:ea typeface="Aptos"/>
                <a:cs typeface="Aptos"/>
              </a:rPr>
              <a:t>Rule structure only; no learned thresholds shown</a:t>
            </a:r>
          </a:p>
        </p:txBody>
      </p:sp>
      <p:sp>
        <p:nvSpPr>
          <p:cNvPr id="23" name="">
            <a:extLst xmlns:a="http://schemas.openxmlformats.org/drawingml/2006/main">
              <a:ext uri="{FF2B5EF4-FFF2-40B4-BE49-F238E27FC236}">
                <a16:creationId xmlns:a16="http://schemas.microsoft.com/office/drawing/2014/main" id="{E02FFFD3-3F93-4603-BF0A-10E2A1FD4B5A}"/>
              </a:ext>
            </a:extLst>
          </p:cNvPr>
          <p:cNvSpPr>
            <a:spLocks xmlns:a="http://schemas.openxmlformats.org/drawingml/2006/main" noGrp="1"/>
          </p:cNvSpPr>
          <p:nvPr/>
        </p:nvSpPr>
        <p:spPr>
          <a:xfrm xmlns:a="http://schemas.openxmlformats.org/drawingml/2006/main">
            <a:off x="838200" y="5238750"/>
            <a:ext cx="3095625" cy="419100"/>
          </a:xfrm>
          <a:prstGeom xmlns:a="http://schemas.openxmlformats.org/drawingml/2006/main" prst="rect">
            <a:avLst/>
          </a:prstGeom>
          <a:solidFill xmlns:a="http://schemas.openxmlformats.org/drawingml/2006/main">
            <a:srgbClr val="39C6D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816BED1-9BF8-4461-BC77-B56B477DE6A0}"/>
              </a:ext>
            </a:extLst>
          </p:cNvPr>
          <p:cNvSpPr>
            <a:spLocks xmlns:a="http://schemas.openxmlformats.org/drawingml/2006/main" noGrp="1"/>
          </p:cNvSpPr>
          <p:nvPr/>
        </p:nvSpPr>
        <p:spPr>
          <a:xfrm xmlns:a="http://schemas.openxmlformats.org/drawingml/2006/main">
            <a:off x="933450" y="5314950"/>
            <a:ext cx="2905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081521"/>
                </a:solidFill>
                <a:latin typeface="Aptos"/>
                <a:ea typeface="Aptos"/>
                <a:cs typeface="Aptos"/>
              </a:defRPr>
            </a:pPr>
            <a:r>
              <a:rPr sz="1500" b="1">
                <a:solidFill>
                  <a:srgbClr val="081521"/>
                </a:solidFill>
                <a:latin typeface="Aptos"/>
                <a:ea typeface="Aptos"/>
                <a:cs typeface="Aptos"/>
              </a:rPr>
              <a:t>Export door_predictions.csv</a:t>
            </a:r>
          </a:p>
        </p:txBody>
      </p:sp>
      <p:sp>
        <p:nvSpPr>
          <p:cNvPr id="25" name="">
            <a:extLst xmlns:a="http://schemas.openxmlformats.org/drawingml/2006/main">
              <a:ext uri="{FF2B5EF4-FFF2-40B4-BE49-F238E27FC236}">
                <a16:creationId xmlns:a16="http://schemas.microsoft.com/office/drawing/2014/main" id="{76F2DD62-C01B-4328-8A7E-CBBE8ACC9209}"/>
              </a:ext>
            </a:extLst>
          </p:cNvPr>
          <p:cNvSpPr>
            <a:spLocks xmlns:a="http://schemas.openxmlformats.org/drawingml/2006/main" noGrp="1"/>
          </p:cNvSpPr>
          <p:nvPr/>
        </p:nvSpPr>
        <p:spPr>
          <a:xfrm xmlns:a="http://schemas.openxmlformats.org/drawingml/2006/main">
            <a:off x="4210050" y="5314950"/>
            <a:ext cx="3724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B8C6D5"/>
                </a:solidFill>
                <a:latin typeface="Aptos"/>
                <a:ea typeface="Aptos"/>
                <a:cs typeface="Aptos"/>
              </a:defRPr>
            </a:pPr>
            <a:r>
              <a:rPr sz="1425" b="0">
                <a:solidFill>
                  <a:srgbClr val="B8C6D5"/>
                </a:solidFill>
                <a:latin typeface="Aptos"/>
                <a:ea typeface="Aptos"/>
                <a:cs typeface="Aptos"/>
              </a:rPr>
              <a:t>ROI calculator: scenario estimates</a:t>
            </a:r>
          </a:p>
        </p:txBody>
      </p:sp>
      <p:sp>
        <p:nvSpPr>
          <p:cNvPr id="26" name="">
            <a:extLst xmlns:a="http://schemas.openxmlformats.org/drawingml/2006/main">
              <a:ext uri="{FF2B5EF4-FFF2-40B4-BE49-F238E27FC236}">
                <a16:creationId xmlns:a16="http://schemas.microsoft.com/office/drawing/2014/main" id="{2FFC6986-64B8-45BB-A9A1-0A1F68D3BB79}"/>
              </a:ext>
            </a:extLst>
          </p:cNvPr>
          <p:cNvSpPr>
            <a:spLocks xmlns:a="http://schemas.openxmlformats.org/drawingml/2006/main" noGrp="1"/>
          </p:cNvSpPr>
          <p:nvPr/>
        </p:nvSpPr>
        <p:spPr>
          <a:xfrm xmlns:a="http://schemas.openxmlformats.org/drawingml/2006/main">
            <a:off x="8677275" y="2247900"/>
            <a:ext cx="609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39C6DD"/>
                </a:solidFill>
                <a:latin typeface="Aptos"/>
                <a:ea typeface="Aptos"/>
                <a:cs typeface="Aptos"/>
              </a:defRPr>
            </a:pPr>
            <a:r>
              <a:rPr sz="2325" b="1">
                <a:solidFill>
                  <a:srgbClr val="39C6DD"/>
                </a:solidFill>
                <a:latin typeface="Aptos"/>
                <a:ea typeface="Aptos"/>
                <a:cs typeface="Aptos"/>
              </a:rPr>
              <a:t>01</a:t>
            </a:r>
          </a:p>
        </p:txBody>
      </p:sp>
      <p:sp>
        <p:nvSpPr>
          <p:cNvPr id="27" name="">
            <a:extLst xmlns:a="http://schemas.openxmlformats.org/drawingml/2006/main">
              <a:ext uri="{FF2B5EF4-FFF2-40B4-BE49-F238E27FC236}">
                <a16:creationId xmlns:a16="http://schemas.microsoft.com/office/drawing/2014/main" id="{52946107-D6EB-4AC3-86E5-CC940F454B3E}"/>
              </a:ext>
            </a:extLst>
          </p:cNvPr>
          <p:cNvSpPr>
            <a:spLocks xmlns:a="http://schemas.openxmlformats.org/drawingml/2006/main" noGrp="1"/>
          </p:cNvSpPr>
          <p:nvPr/>
        </p:nvSpPr>
        <p:spPr>
          <a:xfrm xmlns:a="http://schemas.openxmlformats.org/drawingml/2006/main">
            <a:off x="9372600" y="2247900"/>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F4F7FA"/>
                </a:solidFill>
                <a:latin typeface="Aptos"/>
                <a:ea typeface="Aptos"/>
                <a:cs typeface="Aptos"/>
              </a:defRPr>
            </a:pPr>
            <a:r>
              <a:rPr sz="2100" b="1">
                <a:solidFill>
                  <a:srgbClr val="F4F7FA"/>
                </a:solidFill>
                <a:latin typeface="Aptos"/>
                <a:ea typeface="Aptos"/>
                <a:cs typeface="Aptos"/>
              </a:rPr>
              <a:t>Monitor</a:t>
            </a:r>
          </a:p>
        </p:txBody>
      </p:sp>
      <p:sp>
        <p:nvSpPr>
          <p:cNvPr id="28" name="">
            <a:extLst xmlns:a="http://schemas.openxmlformats.org/drawingml/2006/main">
              <a:ext uri="{FF2B5EF4-FFF2-40B4-BE49-F238E27FC236}">
                <a16:creationId xmlns:a16="http://schemas.microsoft.com/office/drawing/2014/main" id="{DA075914-C6DF-47E5-A0B4-10151A871150}"/>
              </a:ext>
            </a:extLst>
          </p:cNvPr>
          <p:cNvSpPr>
            <a:spLocks xmlns:a="http://schemas.openxmlformats.org/drawingml/2006/main" noGrp="1"/>
          </p:cNvSpPr>
          <p:nvPr/>
        </p:nvSpPr>
        <p:spPr>
          <a:xfrm xmlns:a="http://schemas.openxmlformats.org/drawingml/2006/main">
            <a:off x="8677275" y="2724150"/>
            <a:ext cx="290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Simulated sensor readings</a:t>
            </a:r>
          </a:p>
        </p:txBody>
      </p:sp>
      <p:sp>
        <p:nvSpPr>
          <p:cNvPr id="29" name="">
            <a:extLst xmlns:a="http://schemas.openxmlformats.org/drawingml/2006/main">
              <a:ext uri="{FF2B5EF4-FFF2-40B4-BE49-F238E27FC236}">
                <a16:creationId xmlns:a16="http://schemas.microsoft.com/office/drawing/2014/main" id="{798432B9-1C56-464A-B4E4-5B8517E5AE6B}"/>
              </a:ext>
            </a:extLst>
          </p:cNvPr>
          <p:cNvSpPr>
            <a:spLocks xmlns:a="http://schemas.openxmlformats.org/drawingml/2006/main" noGrp="1"/>
          </p:cNvSpPr>
          <p:nvPr/>
        </p:nvSpPr>
        <p:spPr>
          <a:xfrm xmlns:a="http://schemas.openxmlformats.org/drawingml/2006/main">
            <a:off x="8677275" y="3533775"/>
            <a:ext cx="609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39C6DD"/>
                </a:solidFill>
                <a:latin typeface="Aptos"/>
                <a:ea typeface="Aptos"/>
                <a:cs typeface="Aptos"/>
              </a:defRPr>
            </a:pPr>
            <a:r>
              <a:rPr sz="2325" b="1">
                <a:solidFill>
                  <a:srgbClr val="39C6DD"/>
                </a:solidFill>
                <a:latin typeface="Aptos"/>
                <a:ea typeface="Aptos"/>
                <a:cs typeface="Aptos"/>
              </a:rPr>
              <a:t>02</a:t>
            </a:r>
          </a:p>
        </p:txBody>
      </p:sp>
      <p:sp>
        <p:nvSpPr>
          <p:cNvPr id="30" name="">
            <a:extLst xmlns:a="http://schemas.openxmlformats.org/drawingml/2006/main">
              <a:ext uri="{FF2B5EF4-FFF2-40B4-BE49-F238E27FC236}">
                <a16:creationId xmlns:a16="http://schemas.microsoft.com/office/drawing/2014/main" id="{8420E557-9B49-4542-ABB2-B921F2EB1594}"/>
              </a:ext>
            </a:extLst>
          </p:cNvPr>
          <p:cNvSpPr>
            <a:spLocks xmlns:a="http://schemas.openxmlformats.org/drawingml/2006/main" noGrp="1"/>
          </p:cNvSpPr>
          <p:nvPr/>
        </p:nvSpPr>
        <p:spPr>
          <a:xfrm xmlns:a="http://schemas.openxmlformats.org/drawingml/2006/main">
            <a:off x="9372600" y="3533775"/>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F4F7FA"/>
                </a:solidFill>
                <a:latin typeface="Aptos"/>
                <a:ea typeface="Aptos"/>
                <a:cs typeface="Aptos"/>
              </a:defRPr>
            </a:pPr>
            <a:r>
              <a:rPr sz="2100" b="1">
                <a:solidFill>
                  <a:srgbClr val="F4F7FA"/>
                </a:solidFill>
                <a:latin typeface="Aptos"/>
                <a:ea typeface="Aptos"/>
                <a:cs typeface="Aptos"/>
              </a:rPr>
              <a:t>Inspect</a:t>
            </a:r>
          </a:p>
        </p:txBody>
      </p:sp>
      <p:sp>
        <p:nvSpPr>
          <p:cNvPr id="31" name="">
            <a:extLst xmlns:a="http://schemas.openxmlformats.org/drawingml/2006/main">
              <a:ext uri="{FF2B5EF4-FFF2-40B4-BE49-F238E27FC236}">
                <a16:creationId xmlns:a16="http://schemas.microsoft.com/office/drawing/2014/main" id="{AEB32E76-FB39-4DD4-85D0-5BC1B769AEC2}"/>
              </a:ext>
            </a:extLst>
          </p:cNvPr>
          <p:cNvSpPr>
            <a:spLocks xmlns:a="http://schemas.openxmlformats.org/drawingml/2006/main" noGrp="1"/>
          </p:cNvSpPr>
          <p:nvPr/>
        </p:nvSpPr>
        <p:spPr>
          <a:xfrm xmlns:a="http://schemas.openxmlformats.org/drawingml/2006/main">
            <a:off x="8677275" y="4010025"/>
            <a:ext cx="290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Traceable model decisions</a:t>
            </a:r>
          </a:p>
        </p:txBody>
      </p:sp>
      <p:sp>
        <p:nvSpPr>
          <p:cNvPr id="32" name="">
            <a:extLst xmlns:a="http://schemas.openxmlformats.org/drawingml/2006/main">
              <a:ext uri="{FF2B5EF4-FFF2-40B4-BE49-F238E27FC236}">
                <a16:creationId xmlns:a16="http://schemas.microsoft.com/office/drawing/2014/main" id="{E9339B41-F2DB-4A22-9F61-690217DC43C1}"/>
              </a:ext>
            </a:extLst>
          </p:cNvPr>
          <p:cNvSpPr>
            <a:spLocks xmlns:a="http://schemas.openxmlformats.org/drawingml/2006/main" noGrp="1"/>
          </p:cNvSpPr>
          <p:nvPr/>
        </p:nvSpPr>
        <p:spPr>
          <a:xfrm xmlns:a="http://schemas.openxmlformats.org/drawingml/2006/main">
            <a:off x="8677275" y="4819650"/>
            <a:ext cx="609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39C6DD"/>
                </a:solidFill>
                <a:latin typeface="Aptos"/>
                <a:ea typeface="Aptos"/>
                <a:cs typeface="Aptos"/>
              </a:defRPr>
            </a:pPr>
            <a:r>
              <a:rPr sz="2325" b="1">
                <a:solidFill>
                  <a:srgbClr val="39C6DD"/>
                </a:solidFill>
                <a:latin typeface="Aptos"/>
                <a:ea typeface="Aptos"/>
                <a:cs typeface="Aptos"/>
              </a:rPr>
              <a:t>03</a:t>
            </a:r>
          </a:p>
        </p:txBody>
      </p:sp>
      <p:sp>
        <p:nvSpPr>
          <p:cNvPr id="33" name="">
            <a:extLst xmlns:a="http://schemas.openxmlformats.org/drawingml/2006/main">
              <a:ext uri="{FF2B5EF4-FFF2-40B4-BE49-F238E27FC236}">
                <a16:creationId xmlns:a16="http://schemas.microsoft.com/office/drawing/2014/main" id="{E3FC805D-EB60-4998-B997-C7036CDBC119}"/>
              </a:ext>
            </a:extLst>
          </p:cNvPr>
          <p:cNvSpPr>
            <a:spLocks xmlns:a="http://schemas.openxmlformats.org/drawingml/2006/main" noGrp="1"/>
          </p:cNvSpPr>
          <p:nvPr/>
        </p:nvSpPr>
        <p:spPr>
          <a:xfrm xmlns:a="http://schemas.openxmlformats.org/drawingml/2006/main">
            <a:off x="9372600" y="4819650"/>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F4F7FA"/>
                </a:solidFill>
                <a:latin typeface="Aptos"/>
                <a:ea typeface="Aptos"/>
                <a:cs typeface="Aptos"/>
              </a:defRPr>
            </a:pPr>
            <a:r>
              <a:rPr sz="2100" b="1">
                <a:solidFill>
                  <a:srgbClr val="F4F7FA"/>
                </a:solidFill>
                <a:latin typeface="Aptos"/>
                <a:ea typeface="Aptos"/>
                <a:cs typeface="Aptos"/>
              </a:rPr>
              <a:t>Export</a:t>
            </a:r>
          </a:p>
        </p:txBody>
      </p:sp>
      <p:sp>
        <p:nvSpPr>
          <p:cNvPr id="34" name="">
            <a:extLst xmlns:a="http://schemas.openxmlformats.org/drawingml/2006/main">
              <a:ext uri="{FF2B5EF4-FFF2-40B4-BE49-F238E27FC236}">
                <a16:creationId xmlns:a16="http://schemas.microsoft.com/office/drawing/2014/main" id="{A5847201-F3C8-45BC-B7F5-3CF898B38D84}"/>
              </a:ext>
            </a:extLst>
          </p:cNvPr>
          <p:cNvSpPr>
            <a:spLocks xmlns:a="http://schemas.openxmlformats.org/drawingml/2006/main" noGrp="1"/>
          </p:cNvSpPr>
          <p:nvPr/>
        </p:nvSpPr>
        <p:spPr>
          <a:xfrm xmlns:a="http://schemas.openxmlformats.org/drawingml/2006/main">
            <a:off x="8677275" y="5295900"/>
            <a:ext cx="2905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CSV for maintenance review</a:t>
            </a:r>
          </a:p>
        </p:txBody>
      </p:sp>
    </p:spTree>
    <p:extLst>
      <p:ext uri="{BB962C8B-B14F-4D97-AF65-F5344CB8AC3E}">
        <p14:creationId xmlns:p14="http://schemas.microsoft.com/office/powerpoint/2010/main" val="1239831745"/>
      </p:ext>
    </p:extLst>
  </p:cSld>
</p:sld>
</file>

<file path=ppt/slides/slide5.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D6A6691-5935-4E47-AAF8-E5A51C60AEE2}"/>
              </a:ext>
            </a:extLst>
          </p:cNvPr>
          <p:cNvSpPr>
            <a:spLocks xmlns:a="http://schemas.openxmlformats.org/drawingml/2006/main" noGrp="1"/>
          </p:cNvSpPr>
          <p:nvPr/>
        </p:nvSpPr>
        <p:spPr>
          <a:xfrm xmlns:a="http://schemas.openxmlformats.org/drawingml/2006/main">
            <a:off x="609600" y="3619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39C6DD"/>
                </a:solidFill>
                <a:latin typeface="Aptos"/>
                <a:ea typeface="Aptos"/>
                <a:cs typeface="Aptos"/>
              </a:defRPr>
            </a:pPr>
            <a:r>
              <a:rPr sz="1350" b="1">
                <a:solidFill>
                  <a:srgbClr val="39C6DD"/>
                </a:solidFill>
                <a:latin typeface="Aptos"/>
                <a:ea typeface="Aptos"/>
                <a:cs typeface="Aptos"/>
              </a:rPr>
              <a:t>NEXT STEP</a:t>
            </a:r>
          </a:p>
        </p:txBody>
      </p:sp>
      <p:sp>
        <p:nvSpPr>
          <p:cNvPr id="2" name="">
            <a:extLst xmlns:a="http://schemas.openxmlformats.org/drawingml/2006/main">
              <a:ext uri="{FF2B5EF4-FFF2-40B4-BE49-F238E27FC236}">
                <a16:creationId xmlns:a16="http://schemas.microsoft.com/office/drawing/2014/main" id="{048D5546-0B61-4093-B9CE-5D8C2748FAA1}"/>
              </a:ext>
            </a:extLst>
          </p:cNvPr>
          <p:cNvSpPr>
            <a:spLocks xmlns:a="http://schemas.openxmlformats.org/drawingml/2006/main" noGrp="1"/>
          </p:cNvSpPr>
          <p:nvPr/>
        </p:nvSpPr>
        <p:spPr>
          <a:xfrm xmlns:a="http://schemas.openxmlformats.org/drawingml/2006/main">
            <a:off x="609600" y="809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F4F7FA"/>
                </a:solidFill>
                <a:latin typeface="Aptos"/>
                <a:ea typeface="Aptos"/>
                <a:cs typeface="Aptos"/>
              </a:defRPr>
            </a:pPr>
            <a:r>
              <a:rPr sz="3300" b="1">
                <a:solidFill>
                  <a:srgbClr val="F4F7FA"/>
                </a:solidFill>
                <a:latin typeface="Aptos"/>
                <a:ea typeface="Aptos"/>
                <a:cs typeface="Aptos"/>
              </a:rPr>
              <a:t>Proposed pilot and operational value</a:t>
            </a:r>
          </a:p>
        </p:txBody>
      </p:sp>
      <p:sp>
        <p:nvSpPr>
          <p:cNvPr id="3" name="">
            <a:extLst xmlns:a="http://schemas.openxmlformats.org/drawingml/2006/main">
              <a:ext uri="{FF2B5EF4-FFF2-40B4-BE49-F238E27FC236}">
                <a16:creationId xmlns:a16="http://schemas.microsoft.com/office/drawing/2014/main" id="{ED4619E6-81B6-47FC-B4F0-D3F8EC91F650}"/>
              </a:ext>
            </a:extLst>
          </p:cNvPr>
          <p:cNvSpPr>
            <a:spLocks xmlns:a="http://schemas.openxmlformats.org/drawingml/2006/main" noGrp="1"/>
          </p:cNvSpPr>
          <p:nvPr/>
        </p:nvSpPr>
        <p:spPr>
          <a:xfrm xmlns:a="http://schemas.openxmlformats.org/drawingml/2006/main">
            <a:off x="609600" y="6296025"/>
            <a:ext cx="10972800" cy="9525"/>
          </a:xfrm>
          <a:prstGeom xmlns:a="http://schemas.openxmlformats.org/drawingml/2006/main" prst="rect">
            <a:avLst/>
          </a:prstGeom>
          <a:solidFill xmlns:a="http://schemas.openxmlformats.org/drawingml/2006/main">
            <a:srgbClr val="29425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9E3AFE-7C45-422A-BFAB-F573A8D86DD2}"/>
              </a:ext>
            </a:extLst>
          </p:cNvPr>
          <p:cNvSpPr>
            <a:spLocks xmlns:a="http://schemas.openxmlformats.org/drawingml/2006/main" noGrp="1"/>
          </p:cNvSpPr>
          <p:nvPr/>
        </p:nvSpPr>
        <p:spPr>
          <a:xfrm xmlns:a="http://schemas.openxmlformats.org/drawingml/2006/main">
            <a:off x="609600" y="64770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050" b="0">
                <a:solidFill>
                  <a:srgbClr val="B8C6D5"/>
                </a:solidFill>
                <a:latin typeface="Aptos"/>
                <a:ea typeface="Aptos"/>
                <a:cs typeface="Aptos"/>
              </a:defRPr>
            </a:pPr>
            <a:r>
              <a:rPr sz="1050" b="0">
                <a:solidFill>
                  <a:srgbClr val="B8C6D5"/>
                </a:solidFill>
                <a:latin typeface="Aptos"/>
                <a:ea typeface="Aptos"/>
                <a:cs typeface="Aptos"/>
              </a:rPr>
              <a:t>The Out-liars  /  NEBULA X  /  TRACK 3</a:t>
            </a:r>
          </a:p>
        </p:txBody>
      </p:sp>
      <p:sp>
        <p:nvSpPr>
          <p:cNvPr id="5" name="">
            <a:extLst xmlns:a="http://schemas.openxmlformats.org/drawingml/2006/main">
              <a:ext uri="{FF2B5EF4-FFF2-40B4-BE49-F238E27FC236}">
                <a16:creationId xmlns:a16="http://schemas.microsoft.com/office/drawing/2014/main" id="{21054A3C-101D-4B41-8FE5-8C7B69BA41FE}"/>
              </a:ext>
            </a:extLst>
          </p:cNvPr>
          <p:cNvSpPr>
            <a:spLocks xmlns:a="http://schemas.openxmlformats.org/drawingml/2006/main" noGrp="1"/>
          </p:cNvSpPr>
          <p:nvPr/>
        </p:nvSpPr>
        <p:spPr>
          <a:xfrm xmlns:a="http://schemas.openxmlformats.org/drawingml/2006/main">
            <a:off x="11049000" y="6438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350" b="0">
                <a:solidFill>
                  <a:srgbClr val="B8C6D5"/>
                </a:solidFill>
                <a:latin typeface="Aptos"/>
                <a:ea typeface="Aptos"/>
                <a:cs typeface="Aptos"/>
              </a:defRPr>
            </a:pPr>
            <a:r>
              <a:rPr sz="1350" b="0">
                <a:solidFill>
                  <a:srgbClr val="B8C6D5"/>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6E2F2460-5938-4526-AFF1-ECF2B2EE1750}"/>
              </a:ext>
            </a:extLst>
          </p:cNvPr>
          <p:cNvSpPr>
            <a:spLocks xmlns:a="http://schemas.openxmlformats.org/drawingml/2006/main" noGrp="1"/>
          </p:cNvSpPr>
          <p:nvPr/>
        </p:nvSpPr>
        <p:spPr>
          <a:xfrm xmlns:a="http://schemas.openxmlformats.org/drawingml/2006/main">
            <a:off x="609600" y="2095500"/>
            <a:ext cx="581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9C6DD"/>
                </a:solidFill>
                <a:latin typeface="Aptos"/>
                <a:ea typeface="Aptos"/>
                <a:cs typeface="Aptos"/>
              </a:defRPr>
            </a:pPr>
            <a:r>
              <a:rPr sz="2250" b="1">
                <a:solidFill>
                  <a:srgbClr val="39C6DD"/>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FBA53AB8-A709-4993-A55E-B215072FB9C7}"/>
              </a:ext>
            </a:extLst>
          </p:cNvPr>
          <p:cNvSpPr>
            <a:spLocks xmlns:a="http://schemas.openxmlformats.org/drawingml/2006/main" noGrp="1"/>
          </p:cNvSpPr>
          <p:nvPr/>
        </p:nvSpPr>
        <p:spPr>
          <a:xfrm xmlns:a="http://schemas.openxmlformats.org/drawingml/2006/main">
            <a:off x="1400175" y="2095500"/>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F4F7FA"/>
                </a:solidFill>
                <a:latin typeface="Aptos"/>
                <a:ea typeface="Aptos"/>
                <a:cs typeface="Aptos"/>
              </a:defRPr>
            </a:pPr>
            <a:r>
              <a:rPr sz="2175" b="1">
                <a:solidFill>
                  <a:srgbClr val="F4F7FA"/>
                </a:solidFill>
                <a:latin typeface="Aptos"/>
                <a:ea typeface="Aptos"/>
                <a:cs typeface="Aptos"/>
              </a:rPr>
              <a:t>Shadow-mode pilot</a:t>
            </a:r>
          </a:p>
        </p:txBody>
      </p:sp>
      <p:sp>
        <p:nvSpPr>
          <p:cNvPr id="8" name="">
            <a:extLst xmlns:a="http://schemas.openxmlformats.org/drawingml/2006/main">
              <a:ext uri="{FF2B5EF4-FFF2-40B4-BE49-F238E27FC236}">
                <a16:creationId xmlns:a16="http://schemas.microsoft.com/office/drawing/2014/main" id="{08D6762E-0F1E-47AC-8923-C628A8CC3ABE}"/>
              </a:ext>
            </a:extLst>
          </p:cNvPr>
          <p:cNvSpPr>
            <a:spLocks xmlns:a="http://schemas.openxmlformats.org/drawingml/2006/main" noGrp="1"/>
          </p:cNvSpPr>
          <p:nvPr/>
        </p:nvSpPr>
        <p:spPr>
          <a:xfrm xmlns:a="http://schemas.openxmlformats.org/drawingml/2006/main">
            <a:off x="1400175" y="2543175"/>
            <a:ext cx="557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Alongside existing maintenance</a:t>
            </a:r>
          </a:p>
        </p:txBody>
      </p:sp>
      <p:sp>
        <p:nvSpPr>
          <p:cNvPr id="9" name="">
            <a:extLst xmlns:a="http://schemas.openxmlformats.org/drawingml/2006/main">
              <a:ext uri="{FF2B5EF4-FFF2-40B4-BE49-F238E27FC236}">
                <a16:creationId xmlns:a16="http://schemas.microsoft.com/office/drawing/2014/main" id="{F0CD2D3D-FE87-4420-A543-3A18D31E805A}"/>
              </a:ext>
            </a:extLst>
          </p:cNvPr>
          <p:cNvSpPr>
            <a:spLocks xmlns:a="http://schemas.openxmlformats.org/drawingml/2006/main" noGrp="1"/>
          </p:cNvSpPr>
          <p:nvPr/>
        </p:nvSpPr>
        <p:spPr>
          <a:xfrm xmlns:a="http://schemas.openxmlformats.org/drawingml/2006/main">
            <a:off x="609600" y="3209925"/>
            <a:ext cx="581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9C6DD"/>
                </a:solidFill>
                <a:latin typeface="Aptos"/>
                <a:ea typeface="Aptos"/>
                <a:cs typeface="Aptos"/>
              </a:defRPr>
            </a:pPr>
            <a:r>
              <a:rPr sz="2250" b="1">
                <a:solidFill>
                  <a:srgbClr val="39C6DD"/>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AA913416-74C6-4598-A599-3F3B23922F20}"/>
              </a:ext>
            </a:extLst>
          </p:cNvPr>
          <p:cNvSpPr>
            <a:spLocks xmlns:a="http://schemas.openxmlformats.org/drawingml/2006/main" noGrp="1"/>
          </p:cNvSpPr>
          <p:nvPr/>
        </p:nvSpPr>
        <p:spPr>
          <a:xfrm xmlns:a="http://schemas.openxmlformats.org/drawingml/2006/main">
            <a:off x="1400175" y="320992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F4F7FA"/>
                </a:solidFill>
                <a:latin typeface="Aptos"/>
                <a:ea typeface="Aptos"/>
                <a:cs typeface="Aptos"/>
              </a:defRPr>
            </a:pPr>
            <a:r>
              <a:rPr sz="2175" b="1">
                <a:solidFill>
                  <a:srgbClr val="F4F7FA"/>
                </a:solidFill>
                <a:latin typeface="Aptos"/>
                <a:ea typeface="Aptos"/>
                <a:cs typeface="Aptos"/>
              </a:rPr>
              <a:t>Verify performance</a:t>
            </a:r>
          </a:p>
        </p:txBody>
      </p:sp>
      <p:sp>
        <p:nvSpPr>
          <p:cNvPr id="11" name="">
            <a:extLst xmlns:a="http://schemas.openxmlformats.org/drawingml/2006/main">
              <a:ext uri="{FF2B5EF4-FFF2-40B4-BE49-F238E27FC236}">
                <a16:creationId xmlns:a16="http://schemas.microsoft.com/office/drawing/2014/main" id="{A3EA41EF-7709-4815-8875-2893E11176CF}"/>
              </a:ext>
            </a:extLst>
          </p:cNvPr>
          <p:cNvSpPr>
            <a:spLocks xmlns:a="http://schemas.openxmlformats.org/drawingml/2006/main" noGrp="1"/>
          </p:cNvSpPr>
          <p:nvPr/>
        </p:nvSpPr>
        <p:spPr>
          <a:xfrm xmlns:a="http://schemas.openxmlformats.org/drawingml/2006/main">
            <a:off x="1400175" y="3657600"/>
            <a:ext cx="557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Warning time and false-alert workload</a:t>
            </a:r>
          </a:p>
        </p:txBody>
      </p:sp>
      <p:sp>
        <p:nvSpPr>
          <p:cNvPr id="12" name="">
            <a:extLst xmlns:a="http://schemas.openxmlformats.org/drawingml/2006/main">
              <a:ext uri="{FF2B5EF4-FFF2-40B4-BE49-F238E27FC236}">
                <a16:creationId xmlns:a16="http://schemas.microsoft.com/office/drawing/2014/main" id="{AC062FD2-02B0-48C7-B760-C01BA694ABDE}"/>
              </a:ext>
            </a:extLst>
          </p:cNvPr>
          <p:cNvSpPr>
            <a:spLocks xmlns:a="http://schemas.openxmlformats.org/drawingml/2006/main" noGrp="1"/>
          </p:cNvSpPr>
          <p:nvPr/>
        </p:nvSpPr>
        <p:spPr>
          <a:xfrm xmlns:a="http://schemas.openxmlformats.org/drawingml/2006/main">
            <a:off x="609600" y="4324350"/>
            <a:ext cx="581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9C6DD"/>
                </a:solidFill>
                <a:latin typeface="Aptos"/>
                <a:ea typeface="Aptos"/>
                <a:cs typeface="Aptos"/>
              </a:defRPr>
            </a:pPr>
            <a:r>
              <a:rPr sz="2250" b="1">
                <a:solidFill>
                  <a:srgbClr val="39C6DD"/>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3F343EF9-6E9A-4EE5-941C-F6A8463A8E5F}"/>
              </a:ext>
            </a:extLst>
          </p:cNvPr>
          <p:cNvSpPr>
            <a:spLocks xmlns:a="http://schemas.openxmlformats.org/drawingml/2006/main" noGrp="1"/>
          </p:cNvSpPr>
          <p:nvPr/>
        </p:nvSpPr>
        <p:spPr>
          <a:xfrm xmlns:a="http://schemas.openxmlformats.org/drawingml/2006/main">
            <a:off x="1400175" y="4324350"/>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F4F7FA"/>
                </a:solidFill>
                <a:latin typeface="Aptos"/>
                <a:ea typeface="Aptos"/>
                <a:cs typeface="Aptos"/>
              </a:defRPr>
            </a:pPr>
            <a:r>
              <a:rPr sz="2175" b="1">
                <a:solidFill>
                  <a:srgbClr val="F4F7FA"/>
                </a:solidFill>
                <a:latin typeface="Aptos"/>
                <a:ea typeface="Aptos"/>
                <a:cs typeface="Aptos"/>
              </a:rPr>
              <a:t>Measure impact</a:t>
            </a:r>
          </a:p>
        </p:txBody>
      </p:sp>
      <p:sp>
        <p:nvSpPr>
          <p:cNvPr id="14" name="">
            <a:extLst xmlns:a="http://schemas.openxmlformats.org/drawingml/2006/main">
              <a:ext uri="{FF2B5EF4-FFF2-40B4-BE49-F238E27FC236}">
                <a16:creationId xmlns:a16="http://schemas.microsoft.com/office/drawing/2014/main" id="{93A31C4B-7FF0-4FFC-AF2B-F234A84FD9EA}"/>
              </a:ext>
            </a:extLst>
          </p:cNvPr>
          <p:cNvSpPr>
            <a:spLocks xmlns:a="http://schemas.openxmlformats.org/drawingml/2006/main" noGrp="1"/>
          </p:cNvSpPr>
          <p:nvPr/>
        </p:nvSpPr>
        <p:spPr>
          <a:xfrm xmlns:a="http://schemas.openxmlformats.org/drawingml/2006/main">
            <a:off x="1400175" y="4772025"/>
            <a:ext cx="557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B8C6D5"/>
                </a:solidFill>
                <a:latin typeface="Aptos"/>
                <a:ea typeface="Aptos"/>
                <a:cs typeface="Aptos"/>
              </a:defRPr>
            </a:pPr>
            <a:r>
              <a:rPr sz="1725" b="0">
                <a:solidFill>
                  <a:srgbClr val="B8C6D5"/>
                </a:solidFill>
                <a:latin typeface="Aptos"/>
                <a:ea typeface="Aptos"/>
                <a:cs typeface="Aptos"/>
              </a:rPr>
              <a:t>Confirmed incidents avoided; net savings</a:t>
            </a:r>
          </a:p>
        </p:txBody>
      </p:sp>
      <p:sp>
        <p:nvSpPr>
          <p:cNvPr id="15" name="">
            <a:extLst xmlns:a="http://schemas.openxmlformats.org/drawingml/2006/main">
              <a:ext uri="{FF2B5EF4-FFF2-40B4-BE49-F238E27FC236}">
                <a16:creationId xmlns:a16="http://schemas.microsoft.com/office/drawing/2014/main" id="{3EF61FBA-1F20-418D-823E-EC8A61954853}"/>
              </a:ext>
            </a:extLst>
          </p:cNvPr>
          <p:cNvSpPr>
            <a:spLocks xmlns:a="http://schemas.openxmlformats.org/drawingml/2006/main" noGrp="1"/>
          </p:cNvSpPr>
          <p:nvPr/>
        </p:nvSpPr>
        <p:spPr>
          <a:xfrm xmlns:a="http://schemas.openxmlformats.org/drawingml/2006/main">
            <a:off x="7543800" y="2181225"/>
            <a:ext cx="40386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5775" b="1">
                <a:solidFill>
                  <a:srgbClr val="39C6DD"/>
                </a:solidFill>
                <a:latin typeface="Aptos"/>
                <a:ea typeface="Aptos"/>
                <a:cs typeface="Aptos"/>
              </a:defRPr>
            </a:pPr>
            <a:r>
              <a:rPr sz="5775" b="1">
                <a:solidFill>
                  <a:srgbClr val="39C6DD"/>
                </a:solidFill>
                <a:latin typeface="Aptos"/>
                <a:ea typeface="Aptos"/>
                <a:cs typeface="Aptos"/>
              </a:rPr>
              <a:t>$22,500</a:t>
            </a:r>
          </a:p>
        </p:txBody>
      </p:sp>
      <p:sp>
        <p:nvSpPr>
          <p:cNvPr id="16" name="">
            <a:extLst xmlns:a="http://schemas.openxmlformats.org/drawingml/2006/main">
              <a:ext uri="{FF2B5EF4-FFF2-40B4-BE49-F238E27FC236}">
                <a16:creationId xmlns:a16="http://schemas.microsoft.com/office/drawing/2014/main" id="{5442C24C-AEBB-4BD0-AD2D-53F8A23F19C6}"/>
              </a:ext>
            </a:extLst>
          </p:cNvPr>
          <p:cNvSpPr>
            <a:spLocks xmlns:a="http://schemas.openxmlformats.org/drawingml/2006/main" noGrp="1"/>
          </p:cNvSpPr>
          <p:nvPr/>
        </p:nvSpPr>
        <p:spPr>
          <a:xfrm xmlns:a="http://schemas.openxmlformats.org/drawingml/2006/main">
            <a:off x="7610475" y="3343275"/>
            <a:ext cx="3886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0">
                <a:solidFill>
                  <a:srgbClr val="F4F7FA"/>
                </a:solidFill>
                <a:latin typeface="Aptos"/>
                <a:ea typeface="Aptos"/>
                <a:cs typeface="Aptos"/>
              </a:defRPr>
            </a:pPr>
            <a:r>
              <a:rPr sz="2175" b="0">
                <a:solidFill>
                  <a:srgbClr val="F4F7FA"/>
                </a:solidFill>
                <a:latin typeface="Aptos"/>
                <a:ea typeface="Aptos"/>
                <a:cs typeface="Aptos"/>
              </a:rPr>
              <a:t>Illustrative gross benefit</a:t>
            </a:r>
          </a:p>
          <a:p xmlns:a="http://schemas.openxmlformats.org/drawingml/2006/main">
            <a:pPr algn="l">
              <a:defRPr sz="2175" b="0">
                <a:solidFill>
                  <a:srgbClr val="F4F7FA"/>
                </a:solidFill>
                <a:latin typeface="Aptos"/>
                <a:ea typeface="Aptos"/>
                <a:cs typeface="Aptos"/>
              </a:defRPr>
            </a:pPr>
            <a:r>
              <a:rPr sz="2175" b="0">
                <a:solidFill>
                  <a:srgbClr val="F4F7FA"/>
                </a:solidFill>
                <a:latin typeface="Aptos"/>
                <a:ea typeface="Aptos"/>
                <a:cs typeface="Aptos"/>
              </a:rPr>
              <a:t>per avoided major incident</a:t>
            </a:r>
          </a:p>
        </p:txBody>
      </p:sp>
      <p:sp>
        <p:nvSpPr>
          <p:cNvPr id="17" name="">
            <a:extLst xmlns:a="http://schemas.openxmlformats.org/drawingml/2006/main">
              <a:ext uri="{FF2B5EF4-FFF2-40B4-BE49-F238E27FC236}">
                <a16:creationId xmlns:a16="http://schemas.microsoft.com/office/drawing/2014/main" id="{693FA44E-284E-4F09-A32A-E5762A81755C}"/>
              </a:ext>
            </a:extLst>
          </p:cNvPr>
          <p:cNvSpPr>
            <a:spLocks xmlns:a="http://schemas.openxmlformats.org/drawingml/2006/main" noGrp="1"/>
          </p:cNvSpPr>
          <p:nvPr/>
        </p:nvSpPr>
        <p:spPr>
          <a:xfrm xmlns:a="http://schemas.openxmlformats.org/drawingml/2006/main">
            <a:off x="7610475" y="4391025"/>
            <a:ext cx="38862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B8C6D5"/>
                </a:solidFill>
                <a:latin typeface="Aptos"/>
                <a:ea typeface="Aptos"/>
                <a:cs typeface="Aptos"/>
              </a:defRPr>
            </a:pPr>
            <a:r>
              <a:rPr sz="1500" b="0">
                <a:solidFill>
                  <a:srgbClr val="B8C6D5"/>
                </a:solidFill>
                <a:latin typeface="Aptos"/>
                <a:ea typeface="Aptos"/>
                <a:cs typeface="Aptos"/>
              </a:rPr>
              <a:t>Team-provided cost assumption.</a:t>
            </a:r>
          </a:p>
          <a:p xmlns:a="http://schemas.openxmlformats.org/drawingml/2006/main">
            <a:pPr algn="l">
              <a:defRPr sz="1500" b="0">
                <a:solidFill>
                  <a:srgbClr val="B8C6D5"/>
                </a:solidFill>
                <a:latin typeface="Aptos"/>
                <a:ea typeface="Aptos"/>
                <a:cs typeface="Aptos"/>
              </a:defRPr>
            </a:pPr>
            <a:r>
              <a:rPr sz="1500" b="0">
                <a:solidFill>
                  <a:srgbClr val="B8C6D5"/>
                </a:solidFill>
                <a:latin typeface="Aptos"/>
                <a:ea typeface="Aptos"/>
                <a:cs typeface="Aptos"/>
              </a:rPr>
              <a:t>Currency and basis to confirm.</a:t>
            </a:r>
          </a:p>
        </p:txBody>
      </p:sp>
      <p:sp>
        <p:nvSpPr>
          <p:cNvPr id="18" name="">
            <a:extLst xmlns:a="http://schemas.openxmlformats.org/drawingml/2006/main">
              <a:ext uri="{FF2B5EF4-FFF2-40B4-BE49-F238E27FC236}">
                <a16:creationId xmlns:a16="http://schemas.microsoft.com/office/drawing/2014/main" id="{D7590E10-4993-4BA3-8611-730F713D08DD}"/>
              </a:ext>
            </a:extLst>
          </p:cNvPr>
          <p:cNvSpPr>
            <a:spLocks xmlns:a="http://schemas.openxmlformats.org/drawingml/2006/main" noGrp="1"/>
          </p:cNvSpPr>
          <p:nvPr/>
        </p:nvSpPr>
        <p:spPr>
          <a:xfrm xmlns:a="http://schemas.openxmlformats.org/drawingml/2006/main">
            <a:off x="609600" y="56483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1">
                <a:solidFill>
                  <a:srgbClr val="F4F7FA"/>
                </a:solidFill>
                <a:latin typeface="Aptos"/>
                <a:ea typeface="Aptos"/>
                <a:cs typeface="Aptos"/>
              </a:defRPr>
            </a:pPr>
            <a:r>
              <a:rPr sz="2400" b="1">
                <a:solidFill>
                  <a:srgbClr val="F4F7FA"/>
                </a:solidFill>
                <a:latin typeface="Aptos"/>
                <a:ea typeface="Aptos"/>
                <a:cs typeface="Aptos"/>
              </a:rPr>
              <a:t>Working prototype. Next step: operational validation.</a:t>
            </a:r>
          </a:p>
        </p:txBody>
      </p:sp>
    </p:spTree>
    <p:extLst>
      <p:ext uri="{BB962C8B-B14F-4D97-AF65-F5344CB8AC3E}">
        <p14:creationId xmlns:p14="http://schemas.microsoft.com/office/powerpoint/2010/main" val="1268624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2026-09-18T14:34:36.7450000Z</dcterms:created>
  <dcterms:modified xsi:type="dcterms:W3CDTF">2026-09-18T14:34:36.7450000Z</dcterms:modified>
</coreProperties>
</file>